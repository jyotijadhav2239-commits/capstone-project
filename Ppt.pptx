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0"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36B6-9EDE-EC14-99CA-D72E6C624B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C3E898-E35A-35F3-5A03-BA02CF4F96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A51292-1D11-C031-F9EB-9B7EFB013E48}"/>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5" name="Footer Placeholder 4">
            <a:extLst>
              <a:ext uri="{FF2B5EF4-FFF2-40B4-BE49-F238E27FC236}">
                <a16:creationId xmlns:a16="http://schemas.microsoft.com/office/drawing/2014/main" id="{788D6A6A-F12D-3978-775C-4DEA5B669F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568044-D7E6-0918-7E2A-E3E89AF830D9}"/>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01622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F57C-31BF-FF81-5B1C-71A3C02434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FFB782-D682-105A-36C9-952F11C37A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F4ABAE-3294-D8B2-1A05-12F11EC278E1}"/>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5" name="Footer Placeholder 4">
            <a:extLst>
              <a:ext uri="{FF2B5EF4-FFF2-40B4-BE49-F238E27FC236}">
                <a16:creationId xmlns:a16="http://schemas.microsoft.com/office/drawing/2014/main" id="{F1125DF2-15FF-F4BF-F40C-B11D970E7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0DD9E-3F3E-5FDF-6F5E-4098D21F6F7F}"/>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2746236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02B4C-D30E-F098-783E-0FBF8D73A9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6DDC76-5223-9E7A-226D-0D2AB67562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0B523E-044D-03DE-4657-53968634B4E0}"/>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5" name="Footer Placeholder 4">
            <a:extLst>
              <a:ext uri="{FF2B5EF4-FFF2-40B4-BE49-F238E27FC236}">
                <a16:creationId xmlns:a16="http://schemas.microsoft.com/office/drawing/2014/main" id="{AE6D9E3C-2E7F-3AC2-28A1-A60F720EAA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99D73-A0D6-6301-9EEE-6CA975A78BCD}"/>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58336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075FB-CB50-A313-F95F-BEE0C25FD5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30BA56-6499-1393-F691-4253E3F194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7C1594-2D5C-4AF5-AE83-6D53474017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6C93DC-7C59-6899-EB95-903A3336B533}"/>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6" name="Footer Placeholder 5">
            <a:extLst>
              <a:ext uri="{FF2B5EF4-FFF2-40B4-BE49-F238E27FC236}">
                <a16:creationId xmlns:a16="http://schemas.microsoft.com/office/drawing/2014/main" id="{ECCA981D-6C05-D6BE-CA28-881640EB67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26792B-D8C6-49CC-D9C1-3AD7E39BF77D}"/>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3990666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3157-9B43-6C2C-3BC1-3C25062763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113BCE-0388-46CC-3E2E-458AB8B49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7ABD54-9FDF-FA27-D137-BB3078B753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363302-17E7-93C6-32D8-ADC75D1E17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3FC4A4-A41B-67F2-20A5-DA991C79D3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F20244-DAE7-AE4B-91B6-7D926FAAADAB}"/>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8" name="Footer Placeholder 7">
            <a:extLst>
              <a:ext uri="{FF2B5EF4-FFF2-40B4-BE49-F238E27FC236}">
                <a16:creationId xmlns:a16="http://schemas.microsoft.com/office/drawing/2014/main" id="{888E0216-C44E-CDE5-3E9F-11A5198E3A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51956F-C82B-F2D6-71E1-C40E31A06A8B}"/>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25589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8972-0BA9-AA5F-47B7-09CDC39222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39E0DD-29EE-BBFE-0F5F-CE80DA9A449F}"/>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4" name="Footer Placeholder 3">
            <a:extLst>
              <a:ext uri="{FF2B5EF4-FFF2-40B4-BE49-F238E27FC236}">
                <a16:creationId xmlns:a16="http://schemas.microsoft.com/office/drawing/2014/main" id="{01B22320-6FF3-48D2-68C2-5089B77D0D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1BFAA7-AA39-6AEE-AA34-8D9DF8D99595}"/>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84443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0C6693-E861-C8DC-C185-06BBC8A009DF}"/>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3" name="Footer Placeholder 2">
            <a:extLst>
              <a:ext uri="{FF2B5EF4-FFF2-40B4-BE49-F238E27FC236}">
                <a16:creationId xmlns:a16="http://schemas.microsoft.com/office/drawing/2014/main" id="{AA6A3AC8-DEF1-9179-3C85-1AB49C8902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CBECD1-BA83-FD4D-7D16-2DFB424A66D6}"/>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859110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7819-0D67-1448-1629-F702FF3646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1533FD-65F9-437C-C6AC-F72F751C5B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23BAEC-BFE2-94ED-C2C0-2CDF5E002D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F6ED8-D458-4556-D495-E49F23D2829C}"/>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6" name="Footer Placeholder 5">
            <a:extLst>
              <a:ext uri="{FF2B5EF4-FFF2-40B4-BE49-F238E27FC236}">
                <a16:creationId xmlns:a16="http://schemas.microsoft.com/office/drawing/2014/main" id="{1E074B63-6C13-FCE9-AB82-42F3A4498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5FFA5C-C660-C6FC-51D8-E168A9B73AD8}"/>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95570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0149-2529-4F20-980A-B7C46D9E6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7C8412-4B49-FA99-D5AF-FECAB544C5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04835B-5BFF-3A42-0832-3E9FCE5E4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BAADD-B75D-1CEF-63B6-2850C88F7AE6}"/>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6" name="Footer Placeholder 5">
            <a:extLst>
              <a:ext uri="{FF2B5EF4-FFF2-40B4-BE49-F238E27FC236}">
                <a16:creationId xmlns:a16="http://schemas.microsoft.com/office/drawing/2014/main" id="{0CA96DED-30A9-2D05-77B8-BA03495054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A4DF63-B8F5-AEDB-DF11-3FB30BA1D8D6}"/>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113366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CE9A-3DE5-EBE4-A333-5A4E52FF92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F7BBA9-D36F-9A0C-889A-B5684CC71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285764-D19A-A536-7F2E-414F5045ECC0}"/>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5" name="Footer Placeholder 4">
            <a:extLst>
              <a:ext uri="{FF2B5EF4-FFF2-40B4-BE49-F238E27FC236}">
                <a16:creationId xmlns:a16="http://schemas.microsoft.com/office/drawing/2014/main" id="{47597A14-A87C-288E-A305-036098A47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FA61D-2BA4-D1B5-B272-D60A953636C1}"/>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1879527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37BA18-4144-AF7E-1024-20EE3309CD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1460B7-F8AB-45CD-260B-B4FBD34338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8BE5A-43B8-AE48-3A9B-3352076048E0}"/>
              </a:ext>
            </a:extLst>
          </p:cNvPr>
          <p:cNvSpPr>
            <a:spLocks noGrp="1"/>
          </p:cNvSpPr>
          <p:nvPr>
            <p:ph type="dt" sz="half" idx="10"/>
          </p:nvPr>
        </p:nvSpPr>
        <p:spPr/>
        <p:txBody>
          <a:bodyPr/>
          <a:lstStyle/>
          <a:p>
            <a:fld id="{695EA3A5-F0C2-B34A-B3A4-C5EED3BFB0B2}" type="datetimeFigureOut">
              <a:rPr lang="en-US" smtClean="0"/>
              <a:t>4/4/2026</a:t>
            </a:fld>
            <a:endParaRPr lang="en-US"/>
          </a:p>
        </p:txBody>
      </p:sp>
      <p:sp>
        <p:nvSpPr>
          <p:cNvPr id="5" name="Footer Placeholder 4">
            <a:extLst>
              <a:ext uri="{FF2B5EF4-FFF2-40B4-BE49-F238E27FC236}">
                <a16:creationId xmlns:a16="http://schemas.microsoft.com/office/drawing/2014/main" id="{A5B85559-D055-FDB9-39E5-44AC56D14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F9E85-27DC-66F1-146D-9AEF5537CBC3}"/>
              </a:ext>
            </a:extLst>
          </p:cNvPr>
          <p:cNvSpPr>
            <a:spLocks noGrp="1"/>
          </p:cNvSpPr>
          <p:nvPr>
            <p:ph type="sldNum" sz="quarter" idx="12"/>
          </p:nvPr>
        </p:nvSpPr>
        <p:spPr/>
        <p:txBody>
          <a:bodyPr/>
          <a:lstStyle/>
          <a:p>
            <a:fld id="{D8F0C4E6-1D08-784B-AFE7-AB65B2CCA7FE}" type="slidenum">
              <a:rPr lang="en-US" smtClean="0"/>
              <a:t>‹#›</a:t>
            </a:fld>
            <a:endParaRPr lang="en-US"/>
          </a:p>
        </p:txBody>
      </p:sp>
    </p:spTree>
    <p:extLst>
      <p:ext uri="{BB962C8B-B14F-4D97-AF65-F5344CB8AC3E}">
        <p14:creationId xmlns:p14="http://schemas.microsoft.com/office/powerpoint/2010/main" val="62751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F87836-8519-BE25-D8BB-11BAC978A9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557F33-6B6D-4C33-4B0F-06D01A315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C5D000-69DF-247C-F63C-B7EA518088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5EA3A5-F0C2-B34A-B3A4-C5EED3BFB0B2}" type="datetimeFigureOut">
              <a:rPr lang="en-US" smtClean="0"/>
              <a:t>4/4/2026</a:t>
            </a:fld>
            <a:endParaRPr lang="en-US"/>
          </a:p>
        </p:txBody>
      </p:sp>
      <p:sp>
        <p:nvSpPr>
          <p:cNvPr id="5" name="Footer Placeholder 4">
            <a:extLst>
              <a:ext uri="{FF2B5EF4-FFF2-40B4-BE49-F238E27FC236}">
                <a16:creationId xmlns:a16="http://schemas.microsoft.com/office/drawing/2014/main" id="{21B1DBD8-C493-36B0-A62D-0C96918E3F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DDC8DA-519B-4482-118A-73E11B780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F0C4E6-1D08-784B-AFE7-AB65B2CCA7FE}" type="slidenum">
              <a:rPr lang="en-US" smtClean="0"/>
              <a:t>‹#›</a:t>
            </a:fld>
            <a:endParaRPr lang="en-US"/>
          </a:p>
        </p:txBody>
      </p:sp>
    </p:spTree>
    <p:extLst>
      <p:ext uri="{BB962C8B-B14F-4D97-AF65-F5344CB8AC3E}">
        <p14:creationId xmlns:p14="http://schemas.microsoft.com/office/powerpoint/2010/main" val="4207274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9225-4F8F-4F74-C97A-4ECA9DAE9922}"/>
              </a:ext>
            </a:extLst>
          </p:cNvPr>
          <p:cNvSpPr>
            <a:spLocks noGrp="1"/>
          </p:cNvSpPr>
          <p:nvPr>
            <p:ph type="ctrTitle"/>
          </p:nvPr>
        </p:nvSpPr>
        <p:spPr>
          <a:xfrm>
            <a:off x="1524000" y="1"/>
            <a:ext cx="9144000" cy="1964530"/>
          </a:xfrm>
        </p:spPr>
        <p:txBody>
          <a:bodyPr/>
          <a:lstStyle/>
          <a:p>
            <a:r>
              <a:rPr lang="en-GB" b="1" dirty="0"/>
              <a:t>Government Polytechnic, </a:t>
            </a:r>
            <a:r>
              <a:rPr lang="en-GB" b="1" dirty="0" err="1"/>
              <a:t>Jintur</a:t>
            </a:r>
            <a:r>
              <a:rPr lang="en-GB" b="1" dirty="0"/>
              <a:t> </a:t>
            </a:r>
            <a:endParaRPr lang="en-US" b="1" dirty="0"/>
          </a:p>
        </p:txBody>
      </p:sp>
      <p:sp>
        <p:nvSpPr>
          <p:cNvPr id="3" name="Subtitle 2">
            <a:extLst>
              <a:ext uri="{FF2B5EF4-FFF2-40B4-BE49-F238E27FC236}">
                <a16:creationId xmlns:a16="http://schemas.microsoft.com/office/drawing/2014/main" id="{8C1D0B9E-20DE-2C01-D2F0-DA85FE736933}"/>
              </a:ext>
            </a:extLst>
          </p:cNvPr>
          <p:cNvSpPr>
            <a:spLocks noGrp="1"/>
          </p:cNvSpPr>
          <p:nvPr>
            <p:ph type="subTitle" idx="1"/>
          </p:nvPr>
        </p:nvSpPr>
        <p:spPr>
          <a:xfrm>
            <a:off x="1524000" y="1964531"/>
            <a:ext cx="9144000" cy="4893469"/>
          </a:xfrm>
        </p:spPr>
        <p:txBody>
          <a:bodyPr>
            <a:normAutofit/>
          </a:bodyPr>
          <a:lstStyle/>
          <a:p>
            <a:endParaRPr lang="en-GB" dirty="0"/>
          </a:p>
          <a:p>
            <a:endParaRPr lang="en-GB" dirty="0"/>
          </a:p>
          <a:p>
            <a:endParaRPr lang="en-GB" dirty="0"/>
          </a:p>
          <a:p>
            <a:r>
              <a:rPr lang="en-GB" b="1" dirty="0"/>
              <a:t>Department</a:t>
            </a:r>
            <a:r>
              <a:rPr lang="en-GB" dirty="0"/>
              <a:t> </a:t>
            </a:r>
            <a:r>
              <a:rPr lang="en-GB" b="1" dirty="0"/>
              <a:t>of</a:t>
            </a:r>
            <a:r>
              <a:rPr lang="en-GB" dirty="0"/>
              <a:t> </a:t>
            </a:r>
            <a:r>
              <a:rPr lang="en-GB" b="1" dirty="0"/>
              <a:t>Computer</a:t>
            </a:r>
            <a:r>
              <a:rPr lang="en-GB" dirty="0"/>
              <a:t> </a:t>
            </a:r>
            <a:r>
              <a:rPr lang="en-GB" b="1" dirty="0"/>
              <a:t>Engineering</a:t>
            </a:r>
            <a:r>
              <a:rPr lang="en-GB" dirty="0"/>
              <a:t> </a:t>
            </a:r>
          </a:p>
          <a:p>
            <a:r>
              <a:rPr lang="en-GB" b="1" dirty="0"/>
              <a:t>Project</a:t>
            </a:r>
            <a:r>
              <a:rPr lang="en-GB" dirty="0"/>
              <a:t> </a:t>
            </a:r>
            <a:r>
              <a:rPr lang="en-GB" b="1" dirty="0"/>
              <a:t>Title</a:t>
            </a:r>
            <a:r>
              <a:rPr lang="en-GB" dirty="0"/>
              <a:t>:- E-book store </a:t>
            </a:r>
            <a:r>
              <a:rPr lang="en-GB" dirty="0" err="1"/>
              <a:t>Webapp</a:t>
            </a:r>
            <a:r>
              <a:rPr lang="en-GB" dirty="0"/>
              <a:t> </a:t>
            </a:r>
          </a:p>
          <a:p>
            <a:r>
              <a:rPr lang="en-GB" b="1" dirty="0"/>
              <a:t>Course</a:t>
            </a:r>
            <a:r>
              <a:rPr lang="en-GB" dirty="0"/>
              <a:t> </a:t>
            </a:r>
            <a:r>
              <a:rPr lang="en-GB" b="1" dirty="0"/>
              <a:t>code</a:t>
            </a:r>
            <a:r>
              <a:rPr lang="en-GB" dirty="0"/>
              <a:t>:- 316004</a:t>
            </a:r>
          </a:p>
          <a:p>
            <a:endParaRPr lang="en-GB" dirty="0"/>
          </a:p>
        </p:txBody>
      </p:sp>
      <p:pic>
        <p:nvPicPr>
          <p:cNvPr id="4" name="Picture 3">
            <a:extLst>
              <a:ext uri="{FF2B5EF4-FFF2-40B4-BE49-F238E27FC236}">
                <a16:creationId xmlns:a16="http://schemas.microsoft.com/office/drawing/2014/main" id="{E0261233-B60A-3FD9-1C25-0765DAB4A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2094" y="1910953"/>
            <a:ext cx="1247811" cy="1305439"/>
          </a:xfrm>
          <a:prstGeom prst="rect">
            <a:avLst/>
          </a:prstGeom>
        </p:spPr>
      </p:pic>
      <p:graphicFrame>
        <p:nvGraphicFramePr>
          <p:cNvPr id="5" name="Table 4">
            <a:extLst>
              <a:ext uri="{FF2B5EF4-FFF2-40B4-BE49-F238E27FC236}">
                <a16:creationId xmlns:a16="http://schemas.microsoft.com/office/drawing/2014/main" id="{0E7E11E0-E5FE-A8F4-715C-862DB8646AE2}"/>
              </a:ext>
            </a:extLst>
          </p:cNvPr>
          <p:cNvGraphicFramePr>
            <a:graphicFrameLocks noGrp="1"/>
          </p:cNvGraphicFramePr>
          <p:nvPr>
            <p:extLst>
              <p:ext uri="{D42A27DB-BD31-4B8C-83A1-F6EECF244321}">
                <p14:modId xmlns:p14="http://schemas.microsoft.com/office/powerpoint/2010/main" val="3025203979"/>
              </p:ext>
            </p:extLst>
          </p:nvPr>
        </p:nvGraphicFramePr>
        <p:xfrm>
          <a:off x="2290961" y="4818393"/>
          <a:ext cx="8377038" cy="1828800"/>
        </p:xfrm>
        <a:graphic>
          <a:graphicData uri="http://schemas.openxmlformats.org/drawingml/2006/table">
            <a:tbl>
              <a:tblPr firstRow="1" bandRow="1">
                <a:tableStyleId>{5C22544A-7EE6-4342-B048-85BDC9FD1C3A}</a:tableStyleId>
              </a:tblPr>
              <a:tblGrid>
                <a:gridCol w="2792346">
                  <a:extLst>
                    <a:ext uri="{9D8B030D-6E8A-4147-A177-3AD203B41FA5}">
                      <a16:colId xmlns:a16="http://schemas.microsoft.com/office/drawing/2014/main" val="6852472"/>
                    </a:ext>
                  </a:extLst>
                </a:gridCol>
                <a:gridCol w="2792346">
                  <a:extLst>
                    <a:ext uri="{9D8B030D-6E8A-4147-A177-3AD203B41FA5}">
                      <a16:colId xmlns:a16="http://schemas.microsoft.com/office/drawing/2014/main" val="543179942"/>
                    </a:ext>
                  </a:extLst>
                </a:gridCol>
                <a:gridCol w="2792346">
                  <a:extLst>
                    <a:ext uri="{9D8B030D-6E8A-4147-A177-3AD203B41FA5}">
                      <a16:colId xmlns:a16="http://schemas.microsoft.com/office/drawing/2014/main" val="1373714362"/>
                    </a:ext>
                  </a:extLst>
                </a:gridCol>
              </a:tblGrid>
              <a:tr h="326360">
                <a:tc>
                  <a:txBody>
                    <a:bodyPr/>
                    <a:lstStyle/>
                    <a:p>
                      <a:r>
                        <a:rPr lang="en-GB" dirty="0" err="1"/>
                        <a:t>Sr.no</a:t>
                      </a:r>
                      <a:endParaRPr lang="en-US" dirty="0"/>
                    </a:p>
                  </a:txBody>
                  <a:tcPr/>
                </a:tc>
                <a:tc>
                  <a:txBody>
                    <a:bodyPr/>
                    <a:lstStyle/>
                    <a:p>
                      <a:r>
                        <a:rPr lang="en-GB" dirty="0" err="1"/>
                        <a:t>Enrollment</a:t>
                      </a:r>
                      <a:r>
                        <a:rPr lang="en-GB" dirty="0"/>
                        <a:t> Number </a:t>
                      </a:r>
                      <a:endParaRPr lang="en-US" dirty="0"/>
                    </a:p>
                  </a:txBody>
                  <a:tcPr/>
                </a:tc>
                <a:tc>
                  <a:txBody>
                    <a:bodyPr/>
                    <a:lstStyle/>
                    <a:p>
                      <a:r>
                        <a:rPr lang="en-GB" dirty="0"/>
                        <a:t>Name of Students </a:t>
                      </a:r>
                      <a:endParaRPr lang="en-US" dirty="0"/>
                    </a:p>
                  </a:txBody>
                  <a:tcPr/>
                </a:tc>
                <a:extLst>
                  <a:ext uri="{0D108BD9-81ED-4DB2-BD59-A6C34878D82A}">
                    <a16:rowId xmlns:a16="http://schemas.microsoft.com/office/drawing/2014/main" val="343576149"/>
                  </a:ext>
                </a:extLst>
              </a:tr>
              <a:tr h="326360">
                <a:tc>
                  <a:txBody>
                    <a:bodyPr/>
                    <a:lstStyle/>
                    <a:p>
                      <a:r>
                        <a:rPr lang="en-GB" dirty="0"/>
                        <a:t>1.</a:t>
                      </a:r>
                      <a:endParaRPr lang="en-US" dirty="0"/>
                    </a:p>
                  </a:txBody>
                  <a:tcPr/>
                </a:tc>
                <a:tc>
                  <a:txBody>
                    <a:bodyPr/>
                    <a:lstStyle/>
                    <a:p>
                      <a:r>
                        <a:rPr lang="en-GB" dirty="0"/>
                        <a:t>23510240130</a:t>
                      </a:r>
                      <a:endParaRPr lang="en-US" dirty="0"/>
                    </a:p>
                  </a:txBody>
                  <a:tcPr/>
                </a:tc>
                <a:tc>
                  <a:txBody>
                    <a:bodyPr/>
                    <a:lstStyle/>
                    <a:p>
                      <a:r>
                        <a:rPr lang="en-GB" dirty="0" err="1"/>
                        <a:t>Jyoti</a:t>
                      </a:r>
                      <a:r>
                        <a:rPr lang="en-GB" dirty="0"/>
                        <a:t> </a:t>
                      </a:r>
                      <a:r>
                        <a:rPr lang="en-GB" dirty="0" err="1"/>
                        <a:t>Madhukarao</a:t>
                      </a:r>
                      <a:r>
                        <a:rPr lang="en-GB" dirty="0"/>
                        <a:t> </a:t>
                      </a:r>
                      <a:r>
                        <a:rPr lang="en-GB" dirty="0" err="1"/>
                        <a:t>Jadhav</a:t>
                      </a:r>
                      <a:endParaRPr lang="en-US" dirty="0"/>
                    </a:p>
                  </a:txBody>
                  <a:tcPr/>
                </a:tc>
                <a:extLst>
                  <a:ext uri="{0D108BD9-81ED-4DB2-BD59-A6C34878D82A}">
                    <a16:rowId xmlns:a16="http://schemas.microsoft.com/office/drawing/2014/main" val="2603190865"/>
                  </a:ext>
                </a:extLst>
              </a:tr>
              <a:tr h="326360">
                <a:tc>
                  <a:txBody>
                    <a:bodyPr/>
                    <a:lstStyle/>
                    <a:p>
                      <a:r>
                        <a:rPr lang="en-GB" dirty="0"/>
                        <a:t>2.</a:t>
                      </a:r>
                      <a:endParaRPr lang="en-US" dirty="0"/>
                    </a:p>
                  </a:txBody>
                  <a:tcPr/>
                </a:tc>
                <a:tc>
                  <a:txBody>
                    <a:bodyPr/>
                    <a:lstStyle/>
                    <a:p>
                      <a:r>
                        <a:rPr lang="en-GB" dirty="0"/>
                        <a:t>23510240132</a:t>
                      </a:r>
                      <a:endParaRPr lang="en-US" dirty="0"/>
                    </a:p>
                  </a:txBody>
                  <a:tcPr/>
                </a:tc>
                <a:tc>
                  <a:txBody>
                    <a:bodyPr/>
                    <a:lstStyle/>
                    <a:p>
                      <a:r>
                        <a:rPr lang="en-GB" dirty="0" err="1"/>
                        <a:t>Shital</a:t>
                      </a:r>
                      <a:r>
                        <a:rPr lang="en-GB" dirty="0"/>
                        <a:t> </a:t>
                      </a:r>
                      <a:r>
                        <a:rPr lang="en-GB" dirty="0" err="1"/>
                        <a:t>Rajabhau</a:t>
                      </a:r>
                      <a:r>
                        <a:rPr lang="en-GB" dirty="0"/>
                        <a:t> </a:t>
                      </a:r>
                      <a:r>
                        <a:rPr lang="en-GB" dirty="0" err="1"/>
                        <a:t>Jadhav</a:t>
                      </a:r>
                      <a:endParaRPr lang="en-US" dirty="0"/>
                    </a:p>
                  </a:txBody>
                  <a:tcPr/>
                </a:tc>
                <a:extLst>
                  <a:ext uri="{0D108BD9-81ED-4DB2-BD59-A6C34878D82A}">
                    <a16:rowId xmlns:a16="http://schemas.microsoft.com/office/drawing/2014/main" val="3704975649"/>
                  </a:ext>
                </a:extLst>
              </a:tr>
              <a:tr h="326360">
                <a:tc>
                  <a:txBody>
                    <a:bodyPr/>
                    <a:lstStyle/>
                    <a:p>
                      <a:r>
                        <a:rPr lang="en-GB" dirty="0"/>
                        <a:t>3.</a:t>
                      </a:r>
                      <a:endParaRPr lang="en-US" dirty="0"/>
                    </a:p>
                  </a:txBody>
                  <a:tcPr/>
                </a:tc>
                <a:tc>
                  <a:txBody>
                    <a:bodyPr/>
                    <a:lstStyle/>
                    <a:p>
                      <a:r>
                        <a:rPr lang="en-GB" dirty="0"/>
                        <a:t>23510240143</a:t>
                      </a:r>
                      <a:endParaRPr lang="en-US" dirty="0"/>
                    </a:p>
                  </a:txBody>
                  <a:tcPr/>
                </a:tc>
                <a:tc>
                  <a:txBody>
                    <a:bodyPr/>
                    <a:lstStyle/>
                    <a:p>
                      <a:r>
                        <a:rPr lang="en-GB" dirty="0" err="1"/>
                        <a:t>Gayatri</a:t>
                      </a:r>
                      <a:r>
                        <a:rPr lang="en-GB" dirty="0"/>
                        <a:t> </a:t>
                      </a:r>
                      <a:r>
                        <a:rPr lang="en-GB" dirty="0" err="1"/>
                        <a:t>Madhavrao</a:t>
                      </a:r>
                      <a:r>
                        <a:rPr lang="en-GB" dirty="0"/>
                        <a:t> More </a:t>
                      </a:r>
                      <a:endParaRPr lang="en-US" dirty="0"/>
                    </a:p>
                  </a:txBody>
                  <a:tcPr/>
                </a:tc>
                <a:extLst>
                  <a:ext uri="{0D108BD9-81ED-4DB2-BD59-A6C34878D82A}">
                    <a16:rowId xmlns:a16="http://schemas.microsoft.com/office/drawing/2014/main" val="3322658033"/>
                  </a:ext>
                </a:extLst>
              </a:tr>
              <a:tr h="326360">
                <a:tc>
                  <a:txBody>
                    <a:bodyPr/>
                    <a:lstStyle/>
                    <a:p>
                      <a:r>
                        <a:rPr lang="en-GB" dirty="0"/>
                        <a:t>4.</a:t>
                      </a:r>
                      <a:endParaRPr lang="en-US" dirty="0"/>
                    </a:p>
                  </a:txBody>
                  <a:tcPr/>
                </a:tc>
                <a:tc>
                  <a:txBody>
                    <a:bodyPr/>
                    <a:lstStyle/>
                    <a:p>
                      <a:r>
                        <a:rPr lang="en-GB" dirty="0"/>
                        <a:t>23510240145</a:t>
                      </a:r>
                      <a:endParaRPr lang="en-US" dirty="0"/>
                    </a:p>
                  </a:txBody>
                  <a:tcPr/>
                </a:tc>
                <a:tc>
                  <a:txBody>
                    <a:bodyPr/>
                    <a:lstStyle/>
                    <a:p>
                      <a:r>
                        <a:rPr lang="en-GB" dirty="0" err="1"/>
                        <a:t>Mayuri</a:t>
                      </a:r>
                      <a:r>
                        <a:rPr lang="en-GB" dirty="0"/>
                        <a:t> </a:t>
                      </a:r>
                      <a:r>
                        <a:rPr lang="en-GB" dirty="0" err="1"/>
                        <a:t>Laxmnrao</a:t>
                      </a:r>
                      <a:r>
                        <a:rPr lang="en-GB" dirty="0"/>
                        <a:t> </a:t>
                      </a:r>
                      <a:r>
                        <a:rPr lang="en-GB" dirty="0" err="1"/>
                        <a:t>Narsale</a:t>
                      </a:r>
                      <a:endParaRPr lang="en-US" dirty="0"/>
                    </a:p>
                  </a:txBody>
                  <a:tcPr/>
                </a:tc>
                <a:extLst>
                  <a:ext uri="{0D108BD9-81ED-4DB2-BD59-A6C34878D82A}">
                    <a16:rowId xmlns:a16="http://schemas.microsoft.com/office/drawing/2014/main" val="3965222573"/>
                  </a:ext>
                </a:extLst>
              </a:tr>
            </a:tbl>
          </a:graphicData>
        </a:graphic>
      </p:graphicFrame>
    </p:spTree>
    <p:extLst>
      <p:ext uri="{BB962C8B-B14F-4D97-AF65-F5344CB8AC3E}">
        <p14:creationId xmlns:p14="http://schemas.microsoft.com/office/powerpoint/2010/main" val="726825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CDB2-76D0-4918-BD7B-15BDDA47E8B4}"/>
              </a:ext>
            </a:extLst>
          </p:cNvPr>
          <p:cNvSpPr>
            <a:spLocks noGrp="1"/>
          </p:cNvSpPr>
          <p:nvPr>
            <p:ph type="title"/>
          </p:nvPr>
        </p:nvSpPr>
        <p:spPr/>
        <p:txBody>
          <a:bodyPr/>
          <a:lstStyle/>
          <a:p>
            <a:r>
              <a:rPr lang="en-GB" b="1" dirty="0"/>
              <a:t>Introduction</a:t>
            </a:r>
            <a:r>
              <a:rPr lang="en-GB" dirty="0"/>
              <a:t> </a:t>
            </a:r>
            <a:endParaRPr lang="en-US" dirty="0"/>
          </a:p>
        </p:txBody>
      </p:sp>
      <p:sp>
        <p:nvSpPr>
          <p:cNvPr id="3" name="Content Placeholder 2">
            <a:extLst>
              <a:ext uri="{FF2B5EF4-FFF2-40B4-BE49-F238E27FC236}">
                <a16:creationId xmlns:a16="http://schemas.microsoft.com/office/drawing/2014/main" id="{B6138FFA-9F5A-2FD4-7061-B6FD4C0FB2AD}"/>
              </a:ext>
            </a:extLst>
          </p:cNvPr>
          <p:cNvSpPr>
            <a:spLocks noGrp="1"/>
          </p:cNvSpPr>
          <p:nvPr>
            <p:ph idx="1"/>
          </p:nvPr>
        </p:nvSpPr>
        <p:spPr>
          <a:xfrm>
            <a:off x="1737718" y="1690688"/>
            <a:ext cx="7852768" cy="4351338"/>
          </a:xfrm>
        </p:spPr>
        <p:txBody>
          <a:bodyPr>
            <a:normAutofit fontScale="25000" lnSpcReduction="20000"/>
          </a:bodyPr>
          <a:lstStyle/>
          <a:p>
            <a:pPr marL="0" indent="0">
              <a:buNone/>
            </a:pPr>
            <a:r>
              <a:rPr lang="en-GB" sz="3300" dirty="0"/>
              <a:t>
</a:t>
            </a:r>
            <a:r>
              <a:rPr lang="en-GB" sz="7400" dirty="0"/>
              <a:t>An **E-Book Store Web Application** is an online platform designed to provide users with easy access to a wide collection of digital books. It allows users to **search, browse, purchase, and read e-books** from various genres such as education, fiction, technology, and more.
With the advancement of internet technology, traditional bookstores are being complemented by digital solutions. This web application enables users to **access books anytime and anywhere** using devices like smartphones, tablets, or computers. It offers features such as **user registration, personalized recommendations, secure online payments, and digital libraries** for managing purchased books.
The system benefits readers by offering **convenience, affordability, and instant availability**, while authors and publishers gain a platform for **global distribution and wider audience reach**. Overall, the E-Book Store Web App supports modern reading habits and promotes a **paperless, eco-friendly approach** to learning and entertainment.
</a:t>
            </a:r>
          </a:p>
        </p:txBody>
      </p:sp>
    </p:spTree>
    <p:extLst>
      <p:ext uri="{BB962C8B-B14F-4D97-AF65-F5344CB8AC3E}">
        <p14:creationId xmlns:p14="http://schemas.microsoft.com/office/powerpoint/2010/main" val="328802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D676-8D01-47F8-E623-AF0435BCC030}"/>
              </a:ext>
            </a:extLst>
          </p:cNvPr>
          <p:cNvSpPr>
            <a:spLocks noGrp="1"/>
          </p:cNvSpPr>
          <p:nvPr>
            <p:ph type="title"/>
          </p:nvPr>
        </p:nvSpPr>
        <p:spPr>
          <a:xfrm>
            <a:off x="838200" y="177602"/>
            <a:ext cx="10515600" cy="1325563"/>
          </a:xfrm>
        </p:spPr>
        <p:txBody>
          <a:bodyPr/>
          <a:lstStyle/>
          <a:p>
            <a:r>
              <a:rPr lang="en-GB" b="1" dirty="0"/>
              <a:t>Problem Statement </a:t>
            </a:r>
            <a:endParaRPr lang="en-US" b="1" dirty="0"/>
          </a:p>
        </p:txBody>
      </p:sp>
      <p:sp>
        <p:nvSpPr>
          <p:cNvPr id="3" name="Content Placeholder 2">
            <a:extLst>
              <a:ext uri="{FF2B5EF4-FFF2-40B4-BE49-F238E27FC236}">
                <a16:creationId xmlns:a16="http://schemas.microsoft.com/office/drawing/2014/main" id="{97094E57-4EEA-862F-42D2-178942083FB1}"/>
              </a:ext>
            </a:extLst>
          </p:cNvPr>
          <p:cNvSpPr>
            <a:spLocks noGrp="1"/>
          </p:cNvSpPr>
          <p:nvPr>
            <p:ph idx="1"/>
          </p:nvPr>
        </p:nvSpPr>
        <p:spPr>
          <a:xfrm>
            <a:off x="1088230" y="1110455"/>
            <a:ext cx="8930880" cy="5247483"/>
          </a:xfrm>
        </p:spPr>
        <p:txBody>
          <a:bodyPr>
            <a:normAutofit fontScale="25000" lnSpcReduction="20000"/>
          </a:bodyPr>
          <a:lstStyle/>
          <a:p>
            <a:pPr marL="0" indent="0">
              <a:buNone/>
            </a:pPr>
            <a:r>
              <a:rPr lang="en-GB" sz="6400" dirty="0"/>
              <a:t>
</a:t>
            </a:r>
            <a:r>
              <a:rPr lang="en-GB" sz="8000" dirty="0"/>
              <a:t>
With the rapid growth of digital technology, readers increasingly prefer accessing books online rather than purchasing physical copies. However, many existing platforms are either expensive, difficult to navigate, or lack personalized features, making it challenging for users to discover, purchase, and read e-books efficiently.
There is a need for a user-friendly, secure, and scalable web application that allows users to browse, search, purchase, and read e-books in a seamless manner. Additionally, authors and publishers require a platform to upload and manage their digital content while ensuring proper distribution and revenue tracking.
</a:t>
            </a:r>
            <a:r>
              <a:rPr lang="en-GB" sz="8000" b="1" dirty="0"/>
              <a:t>The system should address key challenges such as:</a:t>
            </a:r>
            <a:r>
              <a:rPr lang="en-GB" sz="8000" dirty="0"/>
              <a:t>
* Efficient organization and categorization of a large number of e-books
* Providing personalized recommendations to users
* Secure online payment and digital rights management
</a:t>
            </a:r>
          </a:p>
        </p:txBody>
      </p:sp>
    </p:spTree>
    <p:extLst>
      <p:ext uri="{BB962C8B-B14F-4D97-AF65-F5344CB8AC3E}">
        <p14:creationId xmlns:p14="http://schemas.microsoft.com/office/powerpoint/2010/main" val="692256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82EC0-B38D-6A40-2DE2-681F35126C05}"/>
              </a:ext>
            </a:extLst>
          </p:cNvPr>
          <p:cNvSpPr>
            <a:spLocks noGrp="1"/>
          </p:cNvSpPr>
          <p:nvPr>
            <p:ph type="title"/>
          </p:nvPr>
        </p:nvSpPr>
        <p:spPr/>
        <p:txBody>
          <a:bodyPr/>
          <a:lstStyle/>
          <a:p>
            <a:r>
              <a:rPr lang="en-GB" b="1" dirty="0"/>
              <a:t>Objectives</a:t>
            </a:r>
            <a:r>
              <a:rPr lang="en-GB" dirty="0"/>
              <a:t> </a:t>
            </a:r>
            <a:endParaRPr lang="en-US" dirty="0"/>
          </a:p>
        </p:txBody>
      </p:sp>
      <p:sp>
        <p:nvSpPr>
          <p:cNvPr id="3" name="Content Placeholder 2">
            <a:extLst>
              <a:ext uri="{FF2B5EF4-FFF2-40B4-BE49-F238E27FC236}">
                <a16:creationId xmlns:a16="http://schemas.microsoft.com/office/drawing/2014/main" id="{F292732A-FDA4-94B0-3C1E-899B404C28F6}"/>
              </a:ext>
            </a:extLst>
          </p:cNvPr>
          <p:cNvSpPr>
            <a:spLocks noGrp="1"/>
          </p:cNvSpPr>
          <p:nvPr>
            <p:ph idx="1"/>
          </p:nvPr>
        </p:nvSpPr>
        <p:spPr>
          <a:xfrm>
            <a:off x="963216" y="1539875"/>
            <a:ext cx="9305925" cy="4351338"/>
          </a:xfrm>
        </p:spPr>
        <p:txBody>
          <a:bodyPr>
            <a:normAutofit fontScale="85000" lnSpcReduction="20000"/>
          </a:bodyPr>
          <a:lstStyle/>
          <a:p>
            <a:pPr marL="0" indent="0">
              <a:buNone/>
            </a:pPr>
            <a:r>
              <a:rPr lang="en-GB" dirty="0"/>
              <a:t>
* To develop an online platform for buying and reading eBooks.
* To provide a wide range of digital books in different genres.
* To enable easy search, filtering, and navigation of books.
* To allow secure online purchasing of eBooks.
* To provide user registration, login, and profile management.
* To enable users to download or read books online.
* To maintain a personalized user experience with recommendations.
* To ensure data security and privacy.
* To support access across multiple devices.
* To improve customer satisfaction and increase sales.</a:t>
            </a:r>
          </a:p>
          <a:p>
            <a:endParaRPr lang="en-US" dirty="0"/>
          </a:p>
        </p:txBody>
      </p:sp>
    </p:spTree>
    <p:extLst>
      <p:ext uri="{BB962C8B-B14F-4D97-AF65-F5344CB8AC3E}">
        <p14:creationId xmlns:p14="http://schemas.microsoft.com/office/powerpoint/2010/main" val="1312458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746C4-6291-1886-4A6F-FDAC9511B4FD}"/>
              </a:ext>
            </a:extLst>
          </p:cNvPr>
          <p:cNvSpPr>
            <a:spLocks noGrp="1"/>
          </p:cNvSpPr>
          <p:nvPr>
            <p:ph type="title"/>
          </p:nvPr>
        </p:nvSpPr>
        <p:spPr/>
        <p:txBody>
          <a:bodyPr/>
          <a:lstStyle/>
          <a:p>
            <a:r>
              <a:rPr lang="en-GB" b="1" dirty="0"/>
              <a:t>Scope</a:t>
            </a:r>
            <a:r>
              <a:rPr lang="en-GB" dirty="0"/>
              <a:t> </a:t>
            </a:r>
            <a:r>
              <a:rPr lang="en-GB" b="1" dirty="0"/>
              <a:t>of</a:t>
            </a:r>
            <a:r>
              <a:rPr lang="en-GB" dirty="0"/>
              <a:t> </a:t>
            </a:r>
            <a:r>
              <a:rPr lang="en-GB" b="1" dirty="0"/>
              <a:t>Project</a:t>
            </a:r>
            <a:r>
              <a:rPr lang="en-GB" dirty="0"/>
              <a:t> </a:t>
            </a:r>
            <a:endParaRPr lang="en-US" dirty="0"/>
          </a:p>
        </p:txBody>
      </p:sp>
      <p:sp>
        <p:nvSpPr>
          <p:cNvPr id="3" name="Content Placeholder 2">
            <a:extLst>
              <a:ext uri="{FF2B5EF4-FFF2-40B4-BE49-F238E27FC236}">
                <a16:creationId xmlns:a16="http://schemas.microsoft.com/office/drawing/2014/main" id="{D84B1B46-1999-3944-0102-F1C07AC933A7}"/>
              </a:ext>
            </a:extLst>
          </p:cNvPr>
          <p:cNvSpPr>
            <a:spLocks noGrp="1"/>
          </p:cNvSpPr>
          <p:nvPr>
            <p:ph idx="1"/>
          </p:nvPr>
        </p:nvSpPr>
        <p:spPr>
          <a:xfrm>
            <a:off x="1625204" y="1690688"/>
            <a:ext cx="7358062" cy="4802187"/>
          </a:xfrm>
        </p:spPr>
        <p:txBody>
          <a:bodyPr>
            <a:normAutofit fontScale="62500" lnSpcReduction="20000"/>
          </a:bodyPr>
          <a:lstStyle/>
          <a:p>
            <a:pPr marL="0" indent="0">
              <a:buNone/>
            </a:pPr>
            <a:r>
              <a:rPr lang="en-GB" dirty="0"/>
              <a:t>
The scope of the </a:t>
            </a:r>
            <a:r>
              <a:rPr lang="en-GB" dirty="0" err="1"/>
              <a:t>Ebook</a:t>
            </a:r>
            <a:r>
              <a:rPr lang="en-GB" dirty="0"/>
              <a:t> Store Web Application includes the design and development of an online platform that enables users to browse, search, purchase, and read digital books. The system will support user registration, authentication, and profile management. Users can explore </a:t>
            </a:r>
            <a:r>
              <a:rPr lang="en-GB" dirty="0" err="1"/>
              <a:t>ebooks</a:t>
            </a:r>
            <a:r>
              <a:rPr lang="en-GB" dirty="0"/>
              <a:t> by categories, authors, or keywords, add them to a cart or </a:t>
            </a:r>
            <a:r>
              <a:rPr lang="en-GB" dirty="0" err="1"/>
              <a:t>wishlist</a:t>
            </a:r>
            <a:r>
              <a:rPr lang="en-GB" dirty="0"/>
              <a:t>, and complete secure online transactions.
The application will provide access to purchased </a:t>
            </a:r>
            <a:r>
              <a:rPr lang="en-GB" dirty="0" err="1"/>
              <a:t>ebooks</a:t>
            </a:r>
            <a:r>
              <a:rPr lang="en-GB" dirty="0"/>
              <a:t> through download or an integrated online reading interface. It will also include features such as ratings, reviews, and order history.
On the administrative side, the system will allow management of </a:t>
            </a:r>
            <a:r>
              <a:rPr lang="en-GB" dirty="0" err="1"/>
              <a:t>ebooks</a:t>
            </a:r>
            <a:r>
              <a:rPr lang="en-GB" dirty="0"/>
              <a:t> (adding, updating, deleting), user accounts, categories, and transactions through a dedicated admin panel.
The project covers frontend and backend development, database management, and integration of payment gateways, ensuring a secure, scalable, and user-friendly platform for digital book distribution.</a:t>
            </a:r>
          </a:p>
          <a:p>
            <a:endParaRPr lang="en-US" dirty="0"/>
          </a:p>
        </p:txBody>
      </p:sp>
    </p:spTree>
    <p:extLst>
      <p:ext uri="{BB962C8B-B14F-4D97-AF65-F5344CB8AC3E}">
        <p14:creationId xmlns:p14="http://schemas.microsoft.com/office/powerpoint/2010/main" val="1509163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0256D-1A68-C7DB-ED6D-86B7A6C6E2EF}"/>
              </a:ext>
            </a:extLst>
          </p:cNvPr>
          <p:cNvSpPr>
            <a:spLocks noGrp="1"/>
          </p:cNvSpPr>
          <p:nvPr>
            <p:ph type="title"/>
          </p:nvPr>
        </p:nvSpPr>
        <p:spPr/>
        <p:txBody>
          <a:bodyPr/>
          <a:lstStyle/>
          <a:p>
            <a:r>
              <a:rPr lang="en-GB" b="1" dirty="0"/>
              <a:t>Key</a:t>
            </a:r>
            <a:r>
              <a:rPr lang="en-GB" dirty="0"/>
              <a:t> </a:t>
            </a:r>
            <a:r>
              <a:rPr lang="en-GB" b="1" dirty="0"/>
              <a:t>Features</a:t>
            </a:r>
            <a:r>
              <a:rPr lang="en-GB" dirty="0"/>
              <a:t> </a:t>
            </a:r>
            <a:endParaRPr lang="en-US" dirty="0"/>
          </a:p>
        </p:txBody>
      </p:sp>
      <p:sp>
        <p:nvSpPr>
          <p:cNvPr id="3" name="Content Placeholder 2">
            <a:extLst>
              <a:ext uri="{FF2B5EF4-FFF2-40B4-BE49-F238E27FC236}">
                <a16:creationId xmlns:a16="http://schemas.microsoft.com/office/drawing/2014/main" id="{FA6C5326-16C3-9A0D-3BC4-92618B6449EA}"/>
              </a:ext>
            </a:extLst>
          </p:cNvPr>
          <p:cNvSpPr>
            <a:spLocks noGrp="1"/>
          </p:cNvSpPr>
          <p:nvPr>
            <p:ph idx="1"/>
          </p:nvPr>
        </p:nvSpPr>
        <p:spPr>
          <a:xfrm>
            <a:off x="1103709" y="1690688"/>
            <a:ext cx="9984581" cy="4351338"/>
          </a:xfrm>
        </p:spPr>
        <p:txBody>
          <a:bodyPr>
            <a:normAutofit fontScale="77500" lnSpcReduction="20000"/>
          </a:bodyPr>
          <a:lstStyle/>
          <a:p>
            <a:pPr marL="0" indent="0">
              <a:buNone/>
            </a:pPr>
            <a:r>
              <a:rPr lang="en-GB" dirty="0"/>
              <a:t>
• User authentication (signup/login)
• Browse &amp; search eBooks
• Categories &amp; filters
• Book details page (preview, description, ratings)
• Shopping cart &amp; checkout
• Online payments integration
• eBook download / cloud library access
• User profile &amp; order history
• </a:t>
            </a:r>
            <a:r>
              <a:rPr lang="en-GB" dirty="0" err="1"/>
              <a:t>Wishlist</a:t>
            </a:r>
            <a:r>
              <a:rPr lang="en-GB" dirty="0"/>
              <a:t> / </a:t>
            </a:r>
            <a:r>
              <a:rPr lang="en-GB" dirty="0" err="1"/>
              <a:t>favorites</a:t>
            </a:r>
            <a:r>
              <a:rPr lang="en-GB" dirty="0"/>
              <a:t>
• Reviews &amp; ratings system
• Admin panel (manage books, users, orders)</a:t>
            </a:r>
          </a:p>
          <a:p>
            <a:pPr marL="0" indent="0">
              <a:buNone/>
            </a:pPr>
            <a:endParaRPr lang="en-US" dirty="0"/>
          </a:p>
        </p:txBody>
      </p:sp>
    </p:spTree>
    <p:extLst>
      <p:ext uri="{BB962C8B-B14F-4D97-AF65-F5344CB8AC3E}">
        <p14:creationId xmlns:p14="http://schemas.microsoft.com/office/powerpoint/2010/main" val="668825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B3D5-A8AA-CD85-B068-DCF2A5C719EA}"/>
              </a:ext>
            </a:extLst>
          </p:cNvPr>
          <p:cNvSpPr>
            <a:spLocks noGrp="1"/>
          </p:cNvSpPr>
          <p:nvPr>
            <p:ph type="title"/>
          </p:nvPr>
        </p:nvSpPr>
        <p:spPr/>
        <p:txBody>
          <a:bodyPr/>
          <a:lstStyle/>
          <a:p>
            <a:r>
              <a:rPr lang="en-GB" b="1" dirty="0"/>
              <a:t>Technology</a:t>
            </a:r>
            <a:r>
              <a:rPr lang="en-GB" dirty="0"/>
              <a:t> </a:t>
            </a:r>
            <a:r>
              <a:rPr lang="en-GB" b="1" dirty="0"/>
              <a:t>Stack</a:t>
            </a:r>
            <a:r>
              <a:rPr lang="en-GB" dirty="0"/>
              <a:t> </a:t>
            </a:r>
            <a:endParaRPr lang="en-US" dirty="0"/>
          </a:p>
        </p:txBody>
      </p:sp>
      <p:sp>
        <p:nvSpPr>
          <p:cNvPr id="3" name="Content Placeholder 2">
            <a:extLst>
              <a:ext uri="{FF2B5EF4-FFF2-40B4-BE49-F238E27FC236}">
                <a16:creationId xmlns:a16="http://schemas.microsoft.com/office/drawing/2014/main" id="{9E52DADD-1BB9-71F2-BBFE-B24EC7887A32}"/>
              </a:ext>
            </a:extLst>
          </p:cNvPr>
          <p:cNvSpPr>
            <a:spLocks noGrp="1"/>
          </p:cNvSpPr>
          <p:nvPr>
            <p:ph idx="1"/>
          </p:nvPr>
        </p:nvSpPr>
        <p:spPr>
          <a:xfrm>
            <a:off x="1123950" y="1477565"/>
            <a:ext cx="9198769" cy="5015310"/>
          </a:xfrm>
        </p:spPr>
        <p:txBody>
          <a:bodyPr>
            <a:normAutofit fontScale="55000" lnSpcReduction="20000"/>
          </a:bodyPr>
          <a:lstStyle/>
          <a:p>
            <a:pPr marL="0" indent="0">
              <a:buNone/>
            </a:pPr>
            <a:r>
              <a:rPr lang="en-GB" dirty="0"/>
              <a:t>
</a:t>
            </a:r>
            <a:r>
              <a:rPr lang="en-GB" sz="3600" dirty="0"/>
              <a:t>• </a:t>
            </a:r>
            <a:r>
              <a:rPr lang="en-GB" sz="3600" b="1" dirty="0"/>
              <a:t>Frontend</a:t>
            </a:r>
            <a:r>
              <a:rPr lang="en-GB" sz="3600" dirty="0"/>
              <a:t>: HTML, CSS, JavaScript; frameworks like React, Angular, or </a:t>
            </a:r>
            <a:r>
              <a:rPr lang="en-GB" sz="3600" dirty="0" err="1"/>
              <a:t>Vue</a:t>
            </a:r>
            <a:r>
              <a:rPr lang="en-GB" sz="3600" dirty="0"/>
              <a:t>; Bootstrap or Tailwind CSS for styling.</a:t>
            </a:r>
          </a:p>
          <a:p>
            <a:pPr marL="0" indent="0">
              <a:buNone/>
            </a:pPr>
            <a:r>
              <a:rPr lang="en-GB" sz="3600" dirty="0"/>
              <a:t>
• </a:t>
            </a:r>
            <a:r>
              <a:rPr lang="en-GB" sz="3600" b="1" dirty="0"/>
              <a:t>Backend</a:t>
            </a:r>
            <a:r>
              <a:rPr lang="en-GB" sz="3600" dirty="0"/>
              <a:t>: </a:t>
            </a:r>
            <a:r>
              <a:rPr lang="en-GB" sz="3600" dirty="0" err="1"/>
              <a:t>Node.js</a:t>
            </a:r>
            <a:r>
              <a:rPr lang="en-GB" sz="3600" dirty="0"/>
              <a:t> + Express, Python + Django/Flask, or Java + Spring Boot.</a:t>
            </a:r>
          </a:p>
          <a:p>
            <a:pPr marL="0" indent="0">
              <a:buNone/>
            </a:pPr>
            <a:r>
              <a:rPr lang="en-GB" sz="3600" dirty="0"/>
              <a:t>
• </a:t>
            </a:r>
            <a:r>
              <a:rPr lang="en-GB" sz="3600" b="1" dirty="0" err="1"/>
              <a:t>Database</a:t>
            </a:r>
            <a:r>
              <a:rPr lang="en-GB" sz="3600" dirty="0" err="1"/>
              <a:t>:MySQL</a:t>
            </a:r>
            <a:r>
              <a:rPr lang="en-GB" sz="3600" dirty="0"/>
              <a:t> or PostgreSQL (relational), MongoDB (NoSQL).</a:t>
            </a:r>
          </a:p>
          <a:p>
            <a:pPr marL="0" indent="0">
              <a:buNone/>
            </a:pPr>
            <a:r>
              <a:rPr lang="en-GB" sz="3600" dirty="0"/>
              <a:t>
• </a:t>
            </a:r>
            <a:r>
              <a:rPr lang="en-GB" sz="3600" b="1" dirty="0" err="1"/>
              <a:t>Storage</a:t>
            </a:r>
            <a:r>
              <a:rPr lang="en-GB" sz="3600" dirty="0" err="1"/>
              <a:t>:AWS</a:t>
            </a:r>
            <a:r>
              <a:rPr lang="en-GB" sz="3600" dirty="0"/>
              <a:t> S3 or Google Cloud Storage for eBook files and images.
• </a:t>
            </a:r>
            <a:r>
              <a:rPr lang="en-GB" sz="3600" b="1" dirty="0"/>
              <a:t>Authentication</a:t>
            </a:r>
            <a:r>
              <a:rPr lang="en-GB" sz="3600" dirty="0"/>
              <a:t> </a:t>
            </a:r>
            <a:r>
              <a:rPr lang="en-GB" sz="3600" b="1" dirty="0"/>
              <a:t>&amp;</a:t>
            </a:r>
            <a:r>
              <a:rPr lang="en-GB" sz="3600" dirty="0"/>
              <a:t> </a:t>
            </a:r>
            <a:r>
              <a:rPr lang="en-GB" sz="3600" b="1" dirty="0"/>
              <a:t>Security</a:t>
            </a:r>
            <a:r>
              <a:rPr lang="en-GB" sz="3600" dirty="0"/>
              <a:t>: JWT or </a:t>
            </a:r>
            <a:r>
              <a:rPr lang="en-GB" sz="3600" dirty="0" err="1"/>
              <a:t>Oauth</a:t>
            </a:r>
            <a:r>
              <a:rPr lang="en-GB" sz="3600" dirty="0"/>
              <a:t>.</a:t>
            </a:r>
          </a:p>
          <a:p>
            <a:pPr marL="0" indent="0">
              <a:buNone/>
            </a:pPr>
            <a:r>
              <a:rPr lang="en-GB" sz="3600" dirty="0"/>
              <a:t>
• </a:t>
            </a:r>
            <a:r>
              <a:rPr lang="en-GB" sz="3600" b="1" dirty="0"/>
              <a:t>Payments</a:t>
            </a:r>
            <a:r>
              <a:rPr lang="en-GB" sz="3600" dirty="0"/>
              <a:t>: Stripe or PayPal integration.</a:t>
            </a:r>
          </a:p>
          <a:p>
            <a:pPr marL="0" indent="0">
              <a:buNone/>
            </a:pPr>
            <a:r>
              <a:rPr lang="en-GB" sz="3600" dirty="0"/>
              <a:t>
• </a:t>
            </a:r>
            <a:r>
              <a:rPr lang="en-GB" sz="3600" b="1" dirty="0"/>
              <a:t>Additional</a:t>
            </a:r>
            <a:r>
              <a:rPr lang="en-GB" sz="3600" dirty="0"/>
              <a:t> </a:t>
            </a:r>
            <a:r>
              <a:rPr lang="en-GB" sz="3600" b="1" dirty="0"/>
              <a:t>Tools</a:t>
            </a:r>
            <a:r>
              <a:rPr lang="en-GB" sz="3600" dirty="0"/>
              <a:t>: </a:t>
            </a:r>
            <a:r>
              <a:rPr lang="en-GB" sz="3600" dirty="0" err="1"/>
              <a:t>Redis</a:t>
            </a:r>
            <a:r>
              <a:rPr lang="en-GB" sz="3600" dirty="0"/>
              <a:t> (caching), </a:t>
            </a:r>
            <a:r>
              <a:rPr lang="en-GB" sz="3600" dirty="0" err="1"/>
              <a:t>Elasticsearch</a:t>
            </a:r>
            <a:r>
              <a:rPr lang="en-GB" sz="3600" dirty="0"/>
              <a:t> (search), Docker/Kubernetes (deployment &amp; scalability).</a:t>
            </a:r>
          </a:p>
          <a:p>
            <a:endParaRPr lang="en-US" dirty="0"/>
          </a:p>
        </p:txBody>
      </p:sp>
    </p:spTree>
    <p:extLst>
      <p:ext uri="{BB962C8B-B14F-4D97-AF65-F5344CB8AC3E}">
        <p14:creationId xmlns:p14="http://schemas.microsoft.com/office/powerpoint/2010/main" val="3841215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5C13-05C8-75DD-3272-2A2C5E2D6F86}"/>
              </a:ext>
            </a:extLst>
          </p:cNvPr>
          <p:cNvSpPr>
            <a:spLocks noGrp="1"/>
          </p:cNvSpPr>
          <p:nvPr>
            <p:ph type="title"/>
          </p:nvPr>
        </p:nvSpPr>
        <p:spPr>
          <a:xfrm>
            <a:off x="1284684" y="400844"/>
            <a:ext cx="10515600" cy="1325563"/>
          </a:xfrm>
        </p:spPr>
        <p:txBody>
          <a:bodyPr/>
          <a:lstStyle/>
          <a:p>
            <a:r>
              <a:rPr lang="en-GB" b="1" dirty="0"/>
              <a:t>Advantages</a:t>
            </a:r>
            <a:r>
              <a:rPr lang="en-GB" dirty="0"/>
              <a:t> </a:t>
            </a:r>
            <a:endParaRPr lang="en-US" dirty="0"/>
          </a:p>
        </p:txBody>
      </p:sp>
      <p:sp>
        <p:nvSpPr>
          <p:cNvPr id="3" name="Content Placeholder 2">
            <a:extLst>
              <a:ext uri="{FF2B5EF4-FFF2-40B4-BE49-F238E27FC236}">
                <a16:creationId xmlns:a16="http://schemas.microsoft.com/office/drawing/2014/main" id="{B76DB05E-B4AC-BEBA-3B80-20089D1A4A35}"/>
              </a:ext>
            </a:extLst>
          </p:cNvPr>
          <p:cNvSpPr>
            <a:spLocks noGrp="1"/>
          </p:cNvSpPr>
          <p:nvPr>
            <p:ph idx="1"/>
          </p:nvPr>
        </p:nvSpPr>
        <p:spPr>
          <a:xfrm>
            <a:off x="1284684" y="1726407"/>
            <a:ext cx="6930629" cy="4351338"/>
          </a:xfrm>
        </p:spPr>
        <p:txBody>
          <a:bodyPr>
            <a:normAutofit/>
          </a:bodyPr>
          <a:lstStyle/>
          <a:p>
            <a:pPr lvl="1"/>
            <a:r>
              <a:rPr lang="en-GB" dirty="0"/>
              <a:t> Anytime access.
 Instant delivery.
 Wide selection.
 Cost savings.
 Personalized experience.
 Easy management.
 Environmentally friendly.
 Global reach.
 Enhanced search.
 Interactive features.</a:t>
            </a:r>
          </a:p>
          <a:p>
            <a:endParaRPr lang="en-US" dirty="0"/>
          </a:p>
        </p:txBody>
      </p:sp>
    </p:spTree>
    <p:extLst>
      <p:ext uri="{BB962C8B-B14F-4D97-AF65-F5344CB8AC3E}">
        <p14:creationId xmlns:p14="http://schemas.microsoft.com/office/powerpoint/2010/main" val="1218119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C74E4-882B-23AC-51FA-562043914D5E}"/>
              </a:ext>
            </a:extLst>
          </p:cNvPr>
          <p:cNvSpPr>
            <a:spLocks noGrp="1"/>
          </p:cNvSpPr>
          <p:nvPr>
            <p:ph type="title"/>
          </p:nvPr>
        </p:nvSpPr>
        <p:spPr/>
        <p:txBody>
          <a:bodyPr/>
          <a:lstStyle/>
          <a:p>
            <a:r>
              <a:rPr lang="en-GB" b="1" dirty="0"/>
              <a:t>Limitations</a:t>
            </a:r>
            <a:r>
              <a:rPr lang="en-GB" dirty="0"/>
              <a:t> </a:t>
            </a:r>
            <a:endParaRPr lang="en-US" dirty="0"/>
          </a:p>
        </p:txBody>
      </p:sp>
      <p:sp>
        <p:nvSpPr>
          <p:cNvPr id="3" name="Content Placeholder 2">
            <a:extLst>
              <a:ext uri="{FF2B5EF4-FFF2-40B4-BE49-F238E27FC236}">
                <a16:creationId xmlns:a16="http://schemas.microsoft.com/office/drawing/2014/main" id="{B41C75B0-041C-AF96-043A-7197FCA886FD}"/>
              </a:ext>
            </a:extLst>
          </p:cNvPr>
          <p:cNvSpPr>
            <a:spLocks noGrp="1"/>
          </p:cNvSpPr>
          <p:nvPr>
            <p:ph idx="1"/>
          </p:nvPr>
        </p:nvSpPr>
        <p:spPr>
          <a:xfrm>
            <a:off x="838200" y="1054199"/>
            <a:ext cx="9841706" cy="5438676"/>
          </a:xfrm>
        </p:spPr>
        <p:txBody>
          <a:bodyPr>
            <a:normAutofit fontScale="25000" lnSpcReduction="20000"/>
          </a:bodyPr>
          <a:lstStyle/>
          <a:p>
            <a:pPr marL="0" indent="0">
              <a:buNone/>
            </a:pPr>
            <a:r>
              <a:rPr lang="en-GB" dirty="0"/>
              <a:t>
</a:t>
            </a:r>
            <a:r>
              <a:rPr lang="en-GB" sz="9600" dirty="0"/>
              <a:t>
• Requires internet for full access; limited offline reading.</a:t>
            </a:r>
          </a:p>
          <a:p>
            <a:pPr marL="0" indent="0">
              <a:buNone/>
            </a:pPr>
            <a:r>
              <a:rPr lang="en-GB" sz="9600" dirty="0"/>
              <a:t>
• Supports only certain e-book formats.</a:t>
            </a:r>
          </a:p>
          <a:p>
            <a:pPr marL="0" indent="0">
              <a:buNone/>
            </a:pPr>
            <a:r>
              <a:rPr lang="en-GB" sz="9600" dirty="0"/>
              <a:t>
• DRM restrictions prevent sharing, copying, or printing.</a:t>
            </a:r>
          </a:p>
          <a:p>
            <a:pPr marL="0" indent="0">
              <a:buNone/>
            </a:pPr>
            <a:r>
              <a:rPr lang="en-GB" sz="9600" dirty="0"/>
              <a:t>
• Limited </a:t>
            </a:r>
            <a:r>
              <a:rPr lang="en-GB" sz="9600" dirty="0" err="1"/>
              <a:t>catalog</a:t>
            </a:r>
            <a:r>
              <a:rPr lang="en-GB" sz="9600" dirty="0"/>
              <a:t> due to licensing constraints.</a:t>
            </a:r>
          </a:p>
          <a:p>
            <a:pPr marL="0" indent="0">
              <a:buNone/>
            </a:pPr>
            <a:r>
              <a:rPr lang="en-GB" sz="9600" dirty="0"/>
              <a:t>
• Device and browser compatibility issues.</a:t>
            </a:r>
          </a:p>
          <a:p>
            <a:pPr marL="0" indent="0">
              <a:buNone/>
            </a:pPr>
            <a:r>
              <a:rPr lang="en-GB" sz="9600" dirty="0"/>
              <a:t>
• Basic personalization features (bookmarks, notes).</a:t>
            </a:r>
          </a:p>
          <a:p>
            <a:pPr marL="0" indent="0">
              <a:buNone/>
            </a:pPr>
            <a:r>
              <a:rPr lang="en-GB" sz="9600" dirty="0"/>
              <a:t>
• Security and privacy concerns.
</a:t>
            </a:r>
          </a:p>
          <a:p>
            <a:endParaRPr lang="en-US" dirty="0"/>
          </a:p>
        </p:txBody>
      </p:sp>
    </p:spTree>
    <p:extLst>
      <p:ext uri="{BB962C8B-B14F-4D97-AF65-F5344CB8AC3E}">
        <p14:creationId xmlns:p14="http://schemas.microsoft.com/office/powerpoint/2010/main" val="269849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27BC-5940-25FA-0EC4-08F0F5919581}"/>
              </a:ext>
            </a:extLst>
          </p:cNvPr>
          <p:cNvSpPr>
            <a:spLocks noGrp="1"/>
          </p:cNvSpPr>
          <p:nvPr>
            <p:ph type="title"/>
          </p:nvPr>
        </p:nvSpPr>
        <p:spPr>
          <a:xfrm>
            <a:off x="4679156" y="365125"/>
            <a:ext cx="7090172" cy="5811838"/>
          </a:xfrm>
        </p:spPr>
        <p:txBody>
          <a:bodyPr/>
          <a:lstStyle/>
          <a:p>
            <a:r>
              <a:rPr lang="en-GB" b="1" dirty="0"/>
              <a:t>Thank</a:t>
            </a:r>
            <a:r>
              <a:rPr lang="en-GB" dirty="0"/>
              <a:t> </a:t>
            </a:r>
            <a:r>
              <a:rPr lang="en-GB" b="1" dirty="0"/>
              <a:t>you</a:t>
            </a:r>
            <a:r>
              <a:rPr lang="en-GB" dirty="0"/>
              <a:t> </a:t>
            </a:r>
            <a:endParaRPr lang="en-US" dirty="0"/>
          </a:p>
        </p:txBody>
      </p:sp>
      <p:sp>
        <p:nvSpPr>
          <p:cNvPr id="3" name="Content Placeholder 2">
            <a:extLst>
              <a:ext uri="{FF2B5EF4-FFF2-40B4-BE49-F238E27FC236}">
                <a16:creationId xmlns:a16="http://schemas.microsoft.com/office/drawing/2014/main" id="{B88B0C91-24AA-F9B2-62BE-2447BD1CCC10}"/>
              </a:ext>
            </a:extLst>
          </p:cNvPr>
          <p:cNvSpPr>
            <a:spLocks noGrp="1"/>
          </p:cNvSpPr>
          <p:nvPr>
            <p:ph idx="1"/>
          </p:nvPr>
        </p:nvSpPr>
        <p:spPr>
          <a:xfrm flipV="1">
            <a:off x="838200" y="12162234"/>
            <a:ext cx="10931128" cy="3161110"/>
          </a:xfrm>
        </p:spPr>
        <p:txBody>
          <a:bodyPr/>
          <a:lstStyle/>
          <a:p>
            <a:pPr marL="0" indent="0">
              <a:buNone/>
            </a:pPr>
            <a:r>
              <a:rPr lang="en-GB" dirty="0"/>
              <a:t>    </a:t>
            </a:r>
            <a:endParaRPr lang="en-US" dirty="0"/>
          </a:p>
        </p:txBody>
      </p:sp>
    </p:spTree>
    <p:extLst>
      <p:ext uri="{BB962C8B-B14F-4D97-AF65-F5344CB8AC3E}">
        <p14:creationId xmlns:p14="http://schemas.microsoft.com/office/powerpoint/2010/main" val="2406029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Government Polytechnic, Jintur </vt:lpstr>
      <vt:lpstr>Introduction </vt:lpstr>
      <vt:lpstr>Problem Statement </vt:lpstr>
      <vt:lpstr>Objectives </vt:lpstr>
      <vt:lpstr>Scope of Project </vt:lpstr>
      <vt:lpstr>Key Features </vt:lpstr>
      <vt:lpstr>Technology Stack </vt:lpstr>
      <vt:lpstr>Advantages </vt:lpstr>
      <vt:lpstr>Limitations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Government Polytechnic, Jintur </dc:title>
  <dc:creator>Gayatri More</dc:creator>
  <cp:lastModifiedBy>Gayatri More</cp:lastModifiedBy>
  <cp:revision>4</cp:revision>
  <dcterms:created xsi:type="dcterms:W3CDTF">2026-04-03T16:04:17Z</dcterms:created>
  <dcterms:modified xsi:type="dcterms:W3CDTF">2026-04-04T10:03:26Z</dcterms:modified>
</cp:coreProperties>
</file>