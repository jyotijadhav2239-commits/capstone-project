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  <p:sldMasterId id="2147483684" r:id="rId5"/>
  </p:sldMasterIdLst>
  <p:notesMasterIdLst>
    <p:notesMasterId r:id="rId16"/>
  </p:notesMasterIdLst>
  <p:handoutMasterIdLst>
    <p:handoutMasterId r:id="rId17"/>
  </p:handoutMasterIdLst>
  <p:sldIdLst>
    <p:sldId id="276" r:id="rId6"/>
    <p:sldId id="261" r:id="rId7"/>
    <p:sldId id="258" r:id="rId8"/>
    <p:sldId id="259" r:id="rId9"/>
    <p:sldId id="262" r:id="rId10"/>
    <p:sldId id="263" r:id="rId11"/>
    <p:sldId id="265" r:id="rId12"/>
    <p:sldId id="266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B9D6A6-96E8-410F-9806-7017A7995D61}" v="46" dt="2026-04-07T09:35:57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48" autoAdjust="0"/>
  </p:normalViewPr>
  <p:slideViewPr>
    <p:cSldViewPr snapToGrid="0">
      <p:cViewPr varScale="1">
        <p:scale>
          <a:sx n="78" d="100"/>
          <a:sy n="78" d="100"/>
        </p:scale>
        <p:origin x="71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750AC01-D39D-4F3A-9DC8-2A211EE986A2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 a digital book store with secure login</a:t>
          </a:r>
        </a:p>
      </dgm:t>
    </dgm:pt>
    <dgm:pt modelId="{720680DC-AAA4-4434-A582-60EBCC5BA355}" type="parTrans" cxnId="{0B5DAE5F-BCDC-4BF7-A6E7-CF856886A64D}">
      <dgm:prSet/>
      <dgm:spPr/>
      <dgm:t>
        <a:bodyPr/>
        <a:lstStyle/>
        <a:p>
          <a:endParaRPr lang="en-US"/>
        </a:p>
      </dgm:t>
    </dgm:pt>
    <dgm:pt modelId="{CA077D98-8478-47EA-B6A9-99ACE60C64D4}" type="sibTrans" cxnId="{0B5DAE5F-BCDC-4BF7-A6E7-CF856886A64D}">
      <dgm:prSet/>
      <dgm:spPr/>
      <dgm:t>
        <a:bodyPr/>
        <a:lstStyle/>
        <a:p>
          <a:endParaRPr lang="en-US"/>
        </a:p>
      </dgm:t>
    </dgm:pt>
    <dgm:pt modelId="{0BEF68B8-1228-47BB-83B5-7B9CD1E3F84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Provide Categories wise e-books  </a:t>
          </a:r>
        </a:p>
      </dgm:t>
    </dgm:pt>
    <dgm:pt modelId="{ED3A4BC2-B75A-4952-A38B-A42B5995DF05}" type="parTrans" cxnId="{EDEF4F82-1237-4639-A0F7-385C1897CE66}">
      <dgm:prSet/>
      <dgm:spPr/>
      <dgm:t>
        <a:bodyPr/>
        <a:lstStyle/>
        <a:p>
          <a:endParaRPr lang="en-US"/>
        </a:p>
      </dgm:t>
    </dgm:pt>
    <dgm:pt modelId="{FD949706-EDCC-4ADC-8EDF-8EDA49C92325}" type="sibTrans" cxnId="{EDEF4F82-1237-4639-A0F7-385C1897CE66}">
      <dgm:prSet/>
      <dgm:spPr/>
      <dgm:t>
        <a:bodyPr/>
        <a:lstStyle/>
        <a:p>
          <a:endParaRPr lang="en-US"/>
        </a:p>
      </dgm:t>
    </dgm:pt>
    <dgm:pt modelId="{5605D28D-2CE6-4513-8566-952984E21E14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Allow User to download and read online</a:t>
          </a:r>
        </a:p>
      </dgm:t>
    </dgm:pt>
    <dgm:pt modelId="{EB15AB98-362B-4E70-A3DA-995FC3E8BA79}" type="parTrans" cxnId="{FAF3F884-F0CF-440F-8CB1-B7648AB1B138}">
      <dgm:prSet/>
      <dgm:spPr/>
      <dgm:t>
        <a:bodyPr/>
        <a:lstStyle/>
        <a:p>
          <a:endParaRPr lang="en-US"/>
        </a:p>
      </dgm:t>
    </dgm:pt>
    <dgm:pt modelId="{823D1971-2C4D-4EC5-A874-2F463DE37109}" type="sibTrans" cxnId="{FAF3F884-F0CF-440F-8CB1-B7648AB1B138}">
      <dgm:prSet/>
      <dgm:spPr/>
      <dgm:t>
        <a:bodyPr/>
        <a:lstStyle/>
        <a:p>
          <a:endParaRPr lang="en-US"/>
        </a:p>
      </dgm:t>
    </dgm:pt>
    <dgm:pt modelId="{44E94763-A7A8-401C-8077-ABD785AAF611}">
      <dgm:prSet/>
      <dgm:spPr/>
      <dgm:t>
        <a:bodyPr/>
        <a:lstStyle/>
        <a:p>
          <a:r>
            <a:rPr lang="en-US" dirty="0"/>
            <a:t>Offer fast search and smooth </a:t>
          </a:r>
          <a:r>
            <a:rPr lang="en-US" dirty="0" err="1"/>
            <a:t>experienc</a:t>
          </a:r>
          <a:endParaRPr lang="en-IN" dirty="0"/>
        </a:p>
      </dgm:t>
    </dgm:pt>
    <dgm:pt modelId="{92878559-E033-4E5D-BE21-E4469D34EDDD}" type="parTrans" cxnId="{09329171-2D1B-462C-B3DB-3D7BDBC720B8}">
      <dgm:prSet/>
      <dgm:spPr/>
      <dgm:t>
        <a:bodyPr/>
        <a:lstStyle/>
        <a:p>
          <a:endParaRPr lang="en-IN"/>
        </a:p>
      </dgm:t>
    </dgm:pt>
    <dgm:pt modelId="{D310891E-16C1-493B-B726-AE04217DC322}" type="sibTrans" cxnId="{09329171-2D1B-462C-B3DB-3D7BDBC720B8}">
      <dgm:prSet/>
      <dgm:spPr/>
      <dgm:t>
        <a:bodyPr/>
        <a:lstStyle/>
        <a:p>
          <a:endParaRPr lang="en-IN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4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4"/>
      <dgm:spPr/>
    </dgm:pt>
    <dgm:pt modelId="{429CABD1-4116-474B-81BF-735E2CA9DD00}" type="pres">
      <dgm:prSet presAssocID="{7E5AA53B-3EEE-4DE4-BB81-9044890C2946}" presName="dstNode" presStyleLbl="node1" presStyleIdx="0" presStyleCnt="4"/>
      <dgm:spPr/>
    </dgm:pt>
    <dgm:pt modelId="{58319267-C71E-43C9-94E1-827D0616C7A7}" type="pres">
      <dgm:prSet presAssocID="{6750AC01-D39D-4F3A-9DC8-2A211EE986A2}" presName="text_1" presStyleLbl="node1" presStyleIdx="0" presStyleCnt="4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4"/>
      <dgm:spPr/>
    </dgm:pt>
    <dgm:pt modelId="{95DE6538-27BD-44AF-A1A8-CA8F6B10FDD2}" type="pres">
      <dgm:prSet presAssocID="{0BEF68B8-1228-47BB-83B5-7B9CD1E3F84E}" presName="text_2" presStyleLbl="node1" presStyleIdx="1" presStyleCnt="4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4"/>
      <dgm:spPr/>
    </dgm:pt>
    <dgm:pt modelId="{E131CE4A-9776-44F4-BC03-867682E21374}" type="pres">
      <dgm:prSet presAssocID="{5605D28D-2CE6-4513-8566-952984E21E14}" presName="text_3" presStyleLbl="node1" presStyleIdx="2" presStyleCnt="4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4"/>
      <dgm:spPr/>
    </dgm:pt>
    <dgm:pt modelId="{841EEF0E-ABAD-40EB-BF8D-E51A17EDCBCA}" type="pres">
      <dgm:prSet presAssocID="{44E94763-A7A8-401C-8077-ABD785AAF611}" presName="text_4" presStyleLbl="node1" presStyleIdx="3" presStyleCnt="4">
        <dgm:presLayoutVars>
          <dgm:bulletEnabled val="1"/>
        </dgm:presLayoutVars>
      </dgm:prSet>
      <dgm:spPr/>
    </dgm:pt>
    <dgm:pt modelId="{E0BDFD54-38CD-4668-B880-A1EA0ED0DA38}" type="pres">
      <dgm:prSet presAssocID="{44E94763-A7A8-401C-8077-ABD785AAF611}" presName="accent_4" presStyleCnt="0"/>
      <dgm:spPr/>
    </dgm:pt>
    <dgm:pt modelId="{D0187786-A4F9-4EC2-8CC0-1BCF7C6C085D}" type="pres">
      <dgm:prSet presAssocID="{44E94763-A7A8-401C-8077-ABD785AAF611}" presName="accentRepeatNode" presStyleLbl="solidFgAcc1" presStyleIdx="3" presStyleCnt="4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09329171-2D1B-462C-B3DB-3D7BDBC720B8}" srcId="{7E5AA53B-3EEE-4DE4-BB81-9044890C2946}" destId="{44E94763-A7A8-401C-8077-ABD785AAF611}" srcOrd="3" destOrd="0" parTransId="{92878559-E033-4E5D-BE21-E4469D34EDDD}" sibTransId="{D310891E-16C1-493B-B726-AE04217DC322}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D43F45E2-D729-43DD-A4B3-7D89A76A7E8E}" type="presOf" srcId="{44E94763-A7A8-401C-8077-ABD785AAF611}" destId="{841EEF0E-ABAD-40EB-BF8D-E51A17EDCBCA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  <dgm:cxn modelId="{77751EB2-A9A1-4FD8-A478-BE0032AA80B7}" type="presParOf" srcId="{90561C55-3C6E-4D53-85E1-2C50BCDDA392}" destId="{841EEF0E-ABAD-40EB-BF8D-E51A17EDCBCA}" srcOrd="7" destOrd="0" presId="urn:microsoft.com/office/officeart/2008/layout/VerticalCurvedList"/>
    <dgm:cxn modelId="{349B134C-6B29-46B2-908D-1237520C31B5}" type="presParOf" srcId="{90561C55-3C6E-4D53-85E1-2C50BCDDA392}" destId="{E0BDFD54-38CD-4668-B880-A1EA0ED0DA38}" srcOrd="8" destOrd="0" presId="urn:microsoft.com/office/officeart/2008/layout/VerticalCurvedList"/>
    <dgm:cxn modelId="{C582B7C4-D69A-43A1-BADA-B416941078A4}" type="presParOf" srcId="{E0BDFD54-38CD-4668-B880-A1EA0ED0DA38}" destId="{D0187786-A4F9-4EC2-8CC0-1BCF7C6C085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04618" y="273995"/>
          <a:ext cx="6402340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Create a digital book store with secure login</a:t>
          </a:r>
        </a:p>
      </dsp:txBody>
      <dsp:txXfrm>
        <a:off x="404618" y="273995"/>
        <a:ext cx="6402340" cy="548276"/>
      </dsp:txXfrm>
    </dsp:sp>
    <dsp:sp modelId="{07CB3071-D555-47DA-A36A-69EB91531FD8}">
      <dsp:nvSpPr>
        <dsp:cNvPr id="0" name=""/>
        <dsp:cNvSpPr/>
      </dsp:nvSpPr>
      <dsp:spPr>
        <a:xfrm>
          <a:off x="61946" y="205461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18958" y="1096552"/>
          <a:ext cx="6088001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Provide Categories wise e-books  </a:t>
          </a:r>
        </a:p>
      </dsp:txBody>
      <dsp:txXfrm>
        <a:off x="718958" y="1096552"/>
        <a:ext cx="6088001" cy="548276"/>
      </dsp:txXfrm>
    </dsp:sp>
    <dsp:sp modelId="{3F8116AC-FAC3-4E95-9865-93CCFEB191B9}">
      <dsp:nvSpPr>
        <dsp:cNvPr id="0" name=""/>
        <dsp:cNvSpPr/>
      </dsp:nvSpPr>
      <dsp:spPr>
        <a:xfrm>
          <a:off x="376285" y="1028017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718958" y="1919109"/>
          <a:ext cx="6088001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Allow User to download and read online</a:t>
          </a:r>
        </a:p>
      </dsp:txBody>
      <dsp:txXfrm>
        <a:off x="718958" y="1919109"/>
        <a:ext cx="6088001" cy="548276"/>
      </dsp:txXfrm>
    </dsp:sp>
    <dsp:sp modelId="{A965097E-32F1-4AB8-8C4E-2814A7596B2F}">
      <dsp:nvSpPr>
        <dsp:cNvPr id="0" name=""/>
        <dsp:cNvSpPr/>
      </dsp:nvSpPr>
      <dsp:spPr>
        <a:xfrm>
          <a:off x="376285" y="1850574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1EEF0E-ABAD-40EB-BF8D-E51A17EDCBCA}">
      <dsp:nvSpPr>
        <dsp:cNvPr id="0" name=""/>
        <dsp:cNvSpPr/>
      </dsp:nvSpPr>
      <dsp:spPr>
        <a:xfrm>
          <a:off x="404618" y="2741666"/>
          <a:ext cx="6402340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Offer fast search and smooth </a:t>
          </a:r>
          <a:r>
            <a:rPr lang="en-US" sz="2500" kern="1200" dirty="0" err="1"/>
            <a:t>experienc</a:t>
          </a:r>
          <a:endParaRPr lang="en-IN" sz="2500" kern="1200" dirty="0"/>
        </a:p>
      </dsp:txBody>
      <dsp:txXfrm>
        <a:off x="404618" y="2741666"/>
        <a:ext cx="6402340" cy="548276"/>
      </dsp:txXfrm>
    </dsp:sp>
    <dsp:sp modelId="{D0187786-A4F9-4EC2-8CC0-1BCF7C6C085D}">
      <dsp:nvSpPr>
        <dsp:cNvPr id="0" name=""/>
        <dsp:cNvSpPr/>
      </dsp:nvSpPr>
      <dsp:spPr>
        <a:xfrm>
          <a:off x="61946" y="2673131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4D758-0AC1-F471-2D07-8EBAEA730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ED74D-430D-CF8F-8614-E6DCCB492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B0088-9E50-D6B7-73F8-77451F62B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B971B-29A2-4C70-9129-88B1E711AD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690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59C62-6212-F84C-84D4-8D2EAB1822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2CF0F6-7AB1-D119-8420-4CDC1BDB4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560EE-1815-1F07-5CB7-689BBF50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1AF94-9FBF-D0C2-0121-347486E07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2C9F1-464F-A424-7867-D870921D1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9108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9DB84-6715-CA32-BE08-BA1A7DDBD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F194B-5D40-C5DD-3938-CB9DF6FDC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D85CE-905A-C7A5-1CD5-E49133655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48D7B-34C0-CAE1-919A-8D4EDE6D0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0BF28-3CF6-A136-679F-170EDAE10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7929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A80C7-7101-5D9A-5048-3C691DDB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430AD-8488-65A0-9022-E6B7FA432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B4315-D376-AA6A-9185-77C2B3B0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303C1-7923-AEB4-96D0-6822D0AE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F7053-FAAB-2180-700F-17311326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5959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A84B-88B7-2BA0-4492-32F8634A8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14F5B-7355-50A0-3E35-76963D239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64C45-EA2F-AC76-0DB6-0EA3AEC21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240F0-AD86-5F9D-62A6-827A6D705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07-04-2026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AAA0D-68B6-DBE7-29B1-D879A2960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6D5C5-8306-DF28-EF85-5A1FA0AB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3817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EA33B-A3AA-168A-4C33-7E8E8EAA1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169D3-3CBF-B876-D1F7-3A2B5CF3B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D080F-E164-8125-C31C-AC5A950E18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93EE31-1F11-EDAB-710D-65A7E93243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A2279-B931-E881-E21A-B3EE4B3205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B1EE17-D173-69A5-5541-BDB06887A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07-04-2026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60989C-EE86-6C20-9078-93216C45F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70670-2BFC-6029-FDC4-8C8271D45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3908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828F8-40E6-47ED-553F-CED26FED9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7F250-C0A9-615E-6B90-432172E01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520E7F-9231-D38C-7A22-B083D8DD6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EECEA0-934D-9D08-E8B5-8584C225F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034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900A8E-F5B0-34E1-7D76-4F111336B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07-04-2026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DA08F1-A69E-586F-F6CA-BE7721503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42390-F841-3DF1-3F12-8F7FC4DFC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1405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66D97-AF26-7755-86F0-56BAD8AED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4D69E-D1EE-5B6F-7581-2D59DFDD6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AFB5E-FB11-A244-5336-6B805B944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D1815-AC9F-4C2E-848B-049B064CC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07-04-2026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4EC32-40DF-0CD1-0EB2-0718B4FA7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C82F7-7C94-02FF-324D-714973434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035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8065-4037-512A-D109-4D7F5240C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EA0302-0377-ECB0-E3CA-5916B5BBF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D5205-6AE4-CD35-04DE-F903A7429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E37FF-D846-BAB2-D319-7BBE67C06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07-04-2026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EF019-642A-2670-1603-6032F4EC2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07266-C21D-35CE-1926-3B699B640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827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C195-D16C-905C-02E5-3FA690EF1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84BADC-6C01-D853-B695-3F43A4F9F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E6923-E1B5-875F-4B5F-6E15D2A0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E700B-833D-C252-2EC7-5EAF4184A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5BD5A-DD62-362D-02D6-E8641867F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5459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F84DC6-E825-C9EB-F01B-09B777212A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E1A39-34EB-5C90-88BB-ED70B490C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27E93-DD25-49FA-EA20-ACCC0C4B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5E08C-EBF4-C043-D840-052A6CF64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97232-F8DE-7537-EE26-B3754CAE7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71120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25000"/>
              </a:schemeClr>
            </a:gs>
            <a:gs pos="68000">
              <a:schemeClr val="tx2">
                <a:lumMod val="2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EDDA87-E036-397D-5ECE-6312E4581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CF215-FA88-E821-3885-392B3431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CF4E3-E77C-B9A0-3BBC-2CAEFB3495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1299F-B7BB-452C-A595-C258CCFC1EB2}" type="datetimeFigureOut">
              <a:rPr lang="en-IN" smtClean="0"/>
              <a:t>07-04-2026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512F1-9234-A97A-5464-0CD49AB93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04966-6F00-7217-BD34-581CBD3A0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0051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AA713-65A4-D049-B07E-0D3B3B720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MSBTE Exam APK for Android Download">
            <a:extLst>
              <a:ext uri="{FF2B5EF4-FFF2-40B4-BE49-F238E27FC236}">
                <a16:creationId xmlns:a16="http://schemas.microsoft.com/office/drawing/2014/main" id="{9F8DDFDA-1BE6-C7C3-B6CE-0F0559B3E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279" y="90468"/>
            <a:ext cx="1373441" cy="137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389C36-47AD-80CC-1D54-128E944DE812}"/>
              </a:ext>
            </a:extLst>
          </p:cNvPr>
          <p:cNvSpPr txBox="1"/>
          <p:nvPr/>
        </p:nvSpPr>
        <p:spPr>
          <a:xfrm>
            <a:off x="1634835" y="1477054"/>
            <a:ext cx="8922329" cy="489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MAHARASHTRA STATE BOARD OF TECHNICAL EDUCATION  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1F104A-D993-1D86-044C-64E25F9B6C74}"/>
              </a:ext>
            </a:extLst>
          </p:cNvPr>
          <p:cNvSpPr txBox="1"/>
          <p:nvPr/>
        </p:nvSpPr>
        <p:spPr>
          <a:xfrm>
            <a:off x="3562301" y="1933723"/>
            <a:ext cx="5067396" cy="489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GOVERN POLYTECHNIC, JINTUR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1C6BC14-7F3A-8146-F43E-8B7DC2795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782957"/>
              </p:ext>
            </p:extLst>
          </p:nvPr>
        </p:nvGraphicFramePr>
        <p:xfrm>
          <a:off x="2401454" y="2633940"/>
          <a:ext cx="7389092" cy="1210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273">
                  <a:extLst>
                    <a:ext uri="{9D8B030D-6E8A-4147-A177-3AD203B41FA5}">
                      <a16:colId xmlns:a16="http://schemas.microsoft.com/office/drawing/2014/main" val="2107357157"/>
                    </a:ext>
                  </a:extLst>
                </a:gridCol>
                <a:gridCol w="1847273">
                  <a:extLst>
                    <a:ext uri="{9D8B030D-6E8A-4147-A177-3AD203B41FA5}">
                      <a16:colId xmlns:a16="http://schemas.microsoft.com/office/drawing/2014/main" val="4145978512"/>
                    </a:ext>
                  </a:extLst>
                </a:gridCol>
                <a:gridCol w="1847273">
                  <a:extLst>
                    <a:ext uri="{9D8B030D-6E8A-4147-A177-3AD203B41FA5}">
                      <a16:colId xmlns:a16="http://schemas.microsoft.com/office/drawing/2014/main" val="1830306956"/>
                    </a:ext>
                  </a:extLst>
                </a:gridCol>
                <a:gridCol w="1847273">
                  <a:extLst>
                    <a:ext uri="{9D8B030D-6E8A-4147-A177-3AD203B41FA5}">
                      <a16:colId xmlns:a16="http://schemas.microsoft.com/office/drawing/2014/main" val="3358156408"/>
                    </a:ext>
                  </a:extLst>
                </a:gridCol>
              </a:tblGrid>
              <a:tr h="403491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Course :</a:t>
                      </a:r>
                    </a:p>
                  </a:txBody>
                  <a:tcPr marL="83127" marR="83127" marT="41564" marB="4156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</a:rPr>
                        <a:t>CO-6K</a:t>
                      </a:r>
                    </a:p>
                  </a:txBody>
                  <a:tcPr marL="83127" marR="83127" marT="41564" marB="4156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Academic Year :</a:t>
                      </a:r>
                    </a:p>
                  </a:txBody>
                  <a:tcPr marL="83127" marR="83127" marT="41564" marB="4156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</a:rPr>
                        <a:t>2025-26</a:t>
                      </a:r>
                    </a:p>
                  </a:txBody>
                  <a:tcPr marL="83127" marR="83127" marT="41564" marB="4156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923275"/>
                  </a:ext>
                </a:extLst>
              </a:tr>
              <a:tr h="403491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Project Title :</a:t>
                      </a:r>
                    </a:p>
                  </a:txBody>
                  <a:tcPr marL="83127" marR="83127" marT="41564" marB="4156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E</a:t>
                      </a:r>
                      <a:r>
                        <a:rPr lang="en-IN" sz="1600" b="0" dirty="0">
                          <a:solidFill>
                            <a:schemeClr val="bg1"/>
                          </a:solidFill>
                        </a:rPr>
                        <a:t>-book store web app</a:t>
                      </a:r>
                    </a:p>
                  </a:txBody>
                  <a:tcPr marL="83127" marR="83127" marT="41564" marB="4156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286522"/>
                  </a:ext>
                </a:extLst>
              </a:tr>
              <a:tr h="403491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Project Guide :</a:t>
                      </a:r>
                    </a:p>
                  </a:txBody>
                  <a:tcPr marL="83127" marR="83127" marT="41564" marB="4156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M</a:t>
                      </a:r>
                      <a:r>
                        <a:rPr lang="en-IN" sz="1600" b="0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en-IN" sz="1600" b="0" dirty="0" err="1">
                          <a:solidFill>
                            <a:schemeClr val="bg1"/>
                          </a:solidFill>
                        </a:rPr>
                        <a:t>A.Zahed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41564" marB="4156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6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41564" marB="4156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6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41564" marB="4156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68532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E348595-160E-D9DF-A246-1072359A2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869378"/>
              </p:ext>
            </p:extLst>
          </p:nvPr>
        </p:nvGraphicFramePr>
        <p:xfrm>
          <a:off x="2401453" y="4129548"/>
          <a:ext cx="7389092" cy="20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2368">
                  <a:extLst>
                    <a:ext uri="{9D8B030D-6E8A-4147-A177-3AD203B41FA5}">
                      <a16:colId xmlns:a16="http://schemas.microsoft.com/office/drawing/2014/main" val="2128193335"/>
                    </a:ext>
                  </a:extLst>
                </a:gridCol>
                <a:gridCol w="3893693">
                  <a:extLst>
                    <a:ext uri="{9D8B030D-6E8A-4147-A177-3AD203B41FA5}">
                      <a16:colId xmlns:a16="http://schemas.microsoft.com/office/drawing/2014/main" val="3333589390"/>
                    </a:ext>
                  </a:extLst>
                </a:gridCol>
                <a:gridCol w="2463031">
                  <a:extLst>
                    <a:ext uri="{9D8B030D-6E8A-4147-A177-3AD203B41FA5}">
                      <a16:colId xmlns:a16="http://schemas.microsoft.com/office/drawing/2014/main" val="2504527129"/>
                    </a:ext>
                  </a:extLst>
                </a:gridCol>
              </a:tblGrid>
              <a:tr h="407056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SR. NO.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ROLL NO.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526746"/>
                  </a:ext>
                </a:extLst>
              </a:tr>
              <a:tr h="407056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JYOTI MADHUKAR JADHAV</a:t>
                      </a:r>
                      <a:endParaRPr lang="en-IN" sz="1600" dirty="0">
                        <a:solidFill>
                          <a:schemeClr val="bg1"/>
                        </a:solidFill>
                      </a:endParaRP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319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987708"/>
                  </a:ext>
                </a:extLst>
              </a:tr>
              <a:tr h="407056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HITAL RAJABHAU JADHAV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321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646962"/>
                  </a:ext>
                </a:extLst>
              </a:tr>
              <a:tr h="407056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GAYATRI MADHAV MORE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327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459351"/>
                  </a:ext>
                </a:extLst>
              </a:tr>
              <a:tr h="407056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M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AYURI LAXMAN NARSALE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328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128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3640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7F5E4E-3A25-46ED-B9B9-284775753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168740"/>
            <a:ext cx="11029615" cy="36783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INTRODUCTION</a:t>
            </a:r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b="1" dirty="0"/>
              <a:t>E-Book Store Web App </a:t>
            </a:r>
            <a:r>
              <a:rPr lang="en-US" dirty="0"/>
              <a:t>is an online platform that allows users to browse, search, purchase, and read e-books conveniently.  The system focuses on simplicity, a clean user interface, and smooth access to study materials. </a:t>
            </a:r>
          </a:p>
          <a:p>
            <a:pPr marL="0" indent="0">
              <a:buNone/>
            </a:pPr>
            <a:r>
              <a:rPr lang="en-US" dirty="0"/>
              <a:t>An admin panel is included to manage books, categories, and users easily.</a:t>
            </a:r>
          </a:p>
          <a:p>
            <a:pPr marL="0" indent="0">
              <a:buNone/>
            </a:pPr>
            <a:r>
              <a:rPr lang="en-US" dirty="0"/>
              <a:t>It eliminates the disadvantages of physical books by providing:</a:t>
            </a:r>
          </a:p>
          <a:p>
            <a:r>
              <a:rPr lang="en-US" dirty="0"/>
              <a:t> Quick search✔</a:t>
            </a:r>
          </a:p>
          <a:p>
            <a:pPr marL="0" indent="0">
              <a:buNone/>
            </a:pPr>
            <a:r>
              <a:rPr lang="en-US" dirty="0"/>
              <a:t>     Instant access✔</a:t>
            </a:r>
          </a:p>
          <a:p>
            <a:pPr marL="0" indent="0">
              <a:buNone/>
            </a:pPr>
            <a:r>
              <a:rPr lang="en-US" dirty="0"/>
              <a:t>     Organized categories✔</a:t>
            </a:r>
          </a:p>
          <a:p>
            <a:pPr marL="0" indent="0">
              <a:buNone/>
            </a:pPr>
            <a:r>
              <a:rPr lang="en-US" dirty="0"/>
              <a:t>     Secure online library for users---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DB5D7-E5E1-581E-D9F0-69A40A871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119" y="2196048"/>
            <a:ext cx="5422390" cy="3633047"/>
          </a:xfrm>
        </p:spPr>
        <p:txBody>
          <a:bodyPr/>
          <a:lstStyle/>
          <a:p>
            <a:r>
              <a:rPr lang="en-IN" sz="2000" b="1" dirty="0">
                <a:solidFill>
                  <a:schemeClr val="accent1"/>
                </a:solidFill>
              </a:rPr>
              <a:t>Frontend:</a:t>
            </a:r>
          </a:p>
          <a:p>
            <a:pPr marL="0" indent="0">
              <a:buNone/>
            </a:pPr>
            <a:r>
              <a:rPr lang="en-IN" dirty="0"/>
              <a:t>     HTML</a:t>
            </a:r>
          </a:p>
          <a:p>
            <a:pPr marL="0" indent="0">
              <a:buNone/>
            </a:pPr>
            <a:r>
              <a:rPr lang="en-IN" dirty="0"/>
              <a:t>     CSS </a:t>
            </a:r>
          </a:p>
          <a:p>
            <a:pPr marL="0" indent="0">
              <a:buNone/>
            </a:pPr>
            <a:r>
              <a:rPr lang="en-IN" dirty="0"/>
              <a:t>     JavaScript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Backend:</a:t>
            </a:r>
          </a:p>
          <a:p>
            <a:pPr marL="0" indent="0">
              <a:buNone/>
            </a:pPr>
            <a:r>
              <a:rPr lang="en-IN" dirty="0"/>
              <a:t>     Java (Servlet/JSP) / Node.js / PHP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9337A8-82E7-17BF-1138-13D547C425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sz="2000" b="1" dirty="0">
                <a:solidFill>
                  <a:schemeClr val="accent1"/>
                </a:solidFill>
              </a:rPr>
              <a:t>Database:</a:t>
            </a:r>
          </a:p>
          <a:p>
            <a:pPr marL="0" indent="0">
              <a:buNone/>
            </a:pPr>
            <a:r>
              <a:rPr lang="en-IN" dirty="0"/>
              <a:t>      MySQL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Tools:</a:t>
            </a:r>
          </a:p>
          <a:p>
            <a:pPr marL="0" indent="0">
              <a:buNone/>
            </a:pPr>
            <a:r>
              <a:rPr lang="en-IN" dirty="0"/>
              <a:t>       VS Code / NetBeans / IntelliJ</a:t>
            </a:r>
          </a:p>
          <a:p>
            <a:pPr marL="0" indent="0">
              <a:buNone/>
            </a:pPr>
            <a:r>
              <a:rPr lang="en-IN" dirty="0"/>
              <a:t>       XAMPP / Apache</a:t>
            </a:r>
          </a:p>
          <a:p>
            <a:pPr marL="0" indent="0">
              <a:buNone/>
            </a:pPr>
            <a:r>
              <a:rPr lang="en-IN" dirty="0"/>
              <a:t>       GitHub</a:t>
            </a:r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Content Placeholder 4" descr="Digital Number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anchor="ctr">
            <a:normAutofit/>
          </a:bodyPr>
          <a:lstStyle/>
          <a:p>
            <a:r>
              <a:rPr lang="en-US" b="1" dirty="0"/>
              <a:t>OBJECTIVES</a:t>
            </a:r>
          </a:p>
        </p:txBody>
      </p:sp>
      <p:graphicFrame>
        <p:nvGraphicFramePr>
          <p:cNvPr id="6" name="Content Placeholder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403619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579B4-3905-0A23-EB06-610E67812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C0C6A-B7D5-539C-9887-34A042BF1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Lack of a centralized online platform for e-book access creates challenges</a:t>
            </a:r>
            <a:r>
              <a:rPr lang="en-US" dirty="0"/>
              <a:t>:</a:t>
            </a:r>
          </a:p>
          <a:p>
            <a:r>
              <a:rPr lang="en-US" dirty="0"/>
              <a:t> Difficulty in finding specific books</a:t>
            </a:r>
          </a:p>
          <a:p>
            <a:r>
              <a:rPr lang="en-US" dirty="0"/>
              <a:t> No proper categorization</a:t>
            </a:r>
          </a:p>
          <a:p>
            <a:r>
              <a:rPr lang="en-US" dirty="0"/>
              <a:t> Limited accessibility</a:t>
            </a:r>
          </a:p>
          <a:p>
            <a:r>
              <a:rPr lang="en-US" dirty="0"/>
              <a:t> No one-place solution for buying/reading</a:t>
            </a:r>
          </a:p>
          <a:p>
            <a:r>
              <a:rPr lang="en-US" dirty="0"/>
              <a:t> Poor user experience on existing platforms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2867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CB344-B20A-2D79-F2B0-EB583152B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8373-F2E3-613A-F6A4-8DED770C9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EE942-5234-CA5F-E262-05C2F5539E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119" y="2196048"/>
            <a:ext cx="5422390" cy="3633047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User Features:</a:t>
            </a:r>
          </a:p>
          <a:p>
            <a:r>
              <a:rPr lang="en-US" sz="2000" b="1" dirty="0"/>
              <a:t> </a:t>
            </a:r>
            <a:r>
              <a:rPr lang="en-US" dirty="0"/>
              <a:t>Register &amp; Login</a:t>
            </a:r>
          </a:p>
          <a:p>
            <a:r>
              <a:rPr lang="en-US" dirty="0"/>
              <a:t>Browse by Genre</a:t>
            </a:r>
          </a:p>
          <a:p>
            <a:r>
              <a:rPr lang="en-US" dirty="0"/>
              <a:t> Search Books</a:t>
            </a:r>
          </a:p>
          <a:p>
            <a:r>
              <a:rPr lang="en-US" dirty="0"/>
              <a:t>Preview / Read Online</a:t>
            </a:r>
          </a:p>
          <a:p>
            <a:r>
              <a:rPr lang="en-US" dirty="0"/>
              <a:t>Add to Library</a:t>
            </a:r>
          </a:p>
          <a:p>
            <a:r>
              <a:rPr lang="en-US" dirty="0"/>
              <a:t> Download e-books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DBC5F2-9B9A-F89E-003E-AD15AC5D71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 Admin Features: </a:t>
            </a:r>
          </a:p>
          <a:p>
            <a:r>
              <a:rPr lang="en-US" dirty="0"/>
              <a:t> Manage Books</a:t>
            </a:r>
          </a:p>
          <a:p>
            <a:r>
              <a:rPr lang="en-US" dirty="0"/>
              <a:t> Add / Remove e-books</a:t>
            </a:r>
          </a:p>
          <a:p>
            <a:r>
              <a:rPr lang="en-US" dirty="0"/>
              <a:t>View Users</a:t>
            </a:r>
          </a:p>
          <a:p>
            <a:r>
              <a:rPr lang="en-US" dirty="0"/>
              <a:t> Track Downloads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335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52FA5-CF41-C665-DC78-F35C3AEDF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LOGIN INSTRUCTIONS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36A9C-DDC6-FCB6-43FE-E2566BCB9F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228003"/>
            <a:ext cx="7353439" cy="3633047"/>
          </a:xfrm>
        </p:spPr>
        <p:txBody>
          <a:bodyPr>
            <a:normAutofit lnSpcReduction="10000"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How Users Login:</a:t>
            </a:r>
          </a:p>
          <a:p>
            <a:endParaRPr lang="en-US" sz="2000" dirty="0"/>
          </a:p>
          <a:p>
            <a:pPr marL="342900" indent="-342900">
              <a:buAutoNum type="arabicPeriod"/>
            </a:pPr>
            <a:r>
              <a:rPr lang="en-US" dirty="0"/>
              <a:t>Open the E-Book Store web app</a:t>
            </a:r>
          </a:p>
          <a:p>
            <a:pPr marL="342900" indent="-342900">
              <a:buAutoNum type="arabicPeriod"/>
            </a:pPr>
            <a:r>
              <a:rPr lang="en-US" dirty="0"/>
              <a:t>Click on Login</a:t>
            </a:r>
          </a:p>
          <a:p>
            <a:pPr marL="342900" indent="-342900">
              <a:buAutoNum type="arabicPeriod"/>
            </a:pPr>
            <a:r>
              <a:rPr lang="en-US" dirty="0"/>
              <a:t> Enter your Email ID</a:t>
            </a:r>
          </a:p>
          <a:p>
            <a:pPr marL="342900" indent="-342900">
              <a:buAutoNum type="arabicPeriod"/>
            </a:pPr>
            <a:r>
              <a:rPr lang="en-US" dirty="0"/>
              <a:t>Enter Password</a:t>
            </a:r>
          </a:p>
          <a:p>
            <a:pPr marL="342900" indent="-342900">
              <a:buAutoNum type="arabicPeriod"/>
            </a:pPr>
            <a:r>
              <a:rPr lang="en-US" dirty="0"/>
              <a:t>Click Sign In</a:t>
            </a:r>
          </a:p>
          <a:p>
            <a:pPr marL="342900" indent="-342900">
              <a:buAutoNum type="arabicPeriod"/>
            </a:pPr>
            <a:r>
              <a:rPr lang="en-US" dirty="0"/>
              <a:t> User Dashboard will open✔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Login process successfully completed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93564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16135-F603-88B8-535A-59C8CCB26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ADVANTAGES &amp; FUTURE SCOPE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3B9A3-46E3-F6D6-363D-479EBCC7E4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sz="2000" b="1" dirty="0">
                <a:solidFill>
                  <a:schemeClr val="accent1"/>
                </a:solidFill>
              </a:rPr>
              <a:t>Advantages</a:t>
            </a:r>
          </a:p>
          <a:p>
            <a:r>
              <a:rPr lang="en-US" dirty="0"/>
              <a:t> Access to e-books anytime, anywhere</a:t>
            </a:r>
          </a:p>
          <a:p>
            <a:r>
              <a:rPr lang="en-US" dirty="0"/>
              <a:t> No physical storage required</a:t>
            </a:r>
          </a:p>
          <a:p>
            <a:r>
              <a:rPr lang="en-US" dirty="0"/>
              <a:t> Fast search feature</a:t>
            </a:r>
          </a:p>
          <a:p>
            <a:r>
              <a:rPr lang="en-US" dirty="0"/>
              <a:t> Environment-friendly</a:t>
            </a:r>
          </a:p>
          <a:p>
            <a:r>
              <a:rPr lang="en-US" dirty="0"/>
              <a:t> Easy to maintain &amp; scalable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CE83C-C6F2-C3FC-2883-577F882E2A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Future Scope</a:t>
            </a:r>
          </a:p>
          <a:p>
            <a:r>
              <a:rPr lang="en-US" dirty="0"/>
              <a:t> Mobile app development</a:t>
            </a:r>
          </a:p>
          <a:p>
            <a:r>
              <a:rPr lang="en-US" dirty="0"/>
              <a:t> AI-based book recommendations</a:t>
            </a:r>
          </a:p>
          <a:p>
            <a:r>
              <a:rPr lang="en-US" dirty="0"/>
              <a:t> Payment gateway for premium books </a:t>
            </a:r>
          </a:p>
          <a:p>
            <a:r>
              <a:rPr lang="en-US" dirty="0"/>
              <a:t> User rating &amp; review system</a:t>
            </a:r>
          </a:p>
          <a:p>
            <a:r>
              <a:rPr lang="en-US" dirty="0"/>
              <a:t> Audio-book support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7932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3598C-8D39-BAD0-D78B-4DB74A7A0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10310"/>
            <a:ext cx="11029615" cy="898825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F1409-0A90-667E-41DF-017B19BE1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3" y="1956619"/>
            <a:ext cx="9034756" cy="318535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The system provides an efficient, simple, and reliable way to access e-books anytime.</a:t>
            </a:r>
          </a:p>
          <a:p>
            <a:r>
              <a:rPr lang="en-US" dirty="0">
                <a:solidFill>
                  <a:schemeClr val="tx2"/>
                </a:solidFill>
              </a:rPr>
              <a:t> It improves convenience for students and readers and supports easy admin management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178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4DF2C-C398-357F-6DA5-7D1B0191E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E0CD0F2B-3F73-C6B6-9ADC-F25BFAD2EA5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-16114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6EB32E-0C04-994D-4289-6DA36E8C9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458" y="502919"/>
            <a:ext cx="11209317" cy="3488977"/>
          </a:xfrm>
        </p:spPr>
        <p:txBody>
          <a:bodyPr>
            <a:noAutofit/>
          </a:bodyPr>
          <a:lstStyle/>
          <a:p>
            <a:pPr algn="just"/>
            <a:r>
              <a:rPr lang="en-US" sz="6000" dirty="0">
                <a:solidFill>
                  <a:schemeClr val="bg1"/>
                </a:solidFill>
              </a:rPr>
              <a:t>              </a:t>
            </a:r>
            <a:br>
              <a:rPr lang="en-US" sz="6000" dirty="0">
                <a:solidFill>
                  <a:schemeClr val="bg1"/>
                </a:solidFill>
              </a:rPr>
            </a:br>
            <a:br>
              <a:rPr lang="en-US" sz="6000" dirty="0">
                <a:solidFill>
                  <a:schemeClr val="bg1"/>
                </a:solidFill>
              </a:rPr>
            </a:br>
            <a:r>
              <a:rPr lang="en-US" sz="6000" dirty="0">
                <a:solidFill>
                  <a:schemeClr val="bg1"/>
                </a:solidFill>
              </a:rPr>
              <a:t>            </a:t>
            </a:r>
            <a:br>
              <a:rPr lang="en-US" sz="6000" dirty="0">
                <a:solidFill>
                  <a:schemeClr val="bg1"/>
                </a:solidFill>
              </a:rPr>
            </a:br>
            <a:r>
              <a:rPr lang="en-US" sz="6000" dirty="0">
                <a:solidFill>
                  <a:schemeClr val="bg1"/>
                </a:solidFill>
              </a:rPr>
              <a:t>               </a:t>
            </a:r>
            <a:r>
              <a:rPr lang="en-US" sz="6600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66194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101</TotalTime>
  <Words>438</Words>
  <Application>Microsoft Office PowerPoint</Application>
  <PresentationFormat>Widescreen</PresentationFormat>
  <Paragraphs>104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Gill Sans MT</vt:lpstr>
      <vt:lpstr>Wingdings 2</vt:lpstr>
      <vt:lpstr>Custom</vt:lpstr>
      <vt:lpstr>Office Theme</vt:lpstr>
      <vt:lpstr>PowerPoint Presentation</vt:lpstr>
      <vt:lpstr> </vt:lpstr>
      <vt:lpstr>TECHNOLOGY STACK</vt:lpstr>
      <vt:lpstr>OBJECTIVES</vt:lpstr>
      <vt:lpstr>PROBLEM STATEMENT</vt:lpstr>
      <vt:lpstr>FEATURES</vt:lpstr>
      <vt:lpstr>LOGIN INSTRUCTIONS</vt:lpstr>
      <vt:lpstr> ADVANTAGES &amp; FUTURE SCOPE</vt:lpstr>
      <vt:lpstr>CONCLUSION</vt:lpstr>
      <vt:lpstr>                 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vedantjadhav906@outlook.com</dc:creator>
  <cp:lastModifiedBy>vedantjadhav906@outlook.com</cp:lastModifiedBy>
  <cp:revision>2</cp:revision>
  <dcterms:created xsi:type="dcterms:W3CDTF">2026-04-07T07:51:44Z</dcterms:created>
  <dcterms:modified xsi:type="dcterms:W3CDTF">2026-04-07T09:36:54Z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